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96"/>
  </p:notesMasterIdLst>
  <p:sldIdLst>
    <p:sldId id="256" r:id="rId2"/>
    <p:sldId id="283" r:id="rId3"/>
    <p:sldId id="328" r:id="rId4"/>
    <p:sldId id="280" r:id="rId5"/>
    <p:sldId id="329" r:id="rId6"/>
    <p:sldId id="330" r:id="rId7"/>
    <p:sldId id="331" r:id="rId8"/>
    <p:sldId id="333" r:id="rId9"/>
    <p:sldId id="334" r:id="rId10"/>
    <p:sldId id="335" r:id="rId11"/>
    <p:sldId id="336" r:id="rId12"/>
    <p:sldId id="337" r:id="rId13"/>
    <p:sldId id="338" r:id="rId14"/>
    <p:sldId id="352" r:id="rId15"/>
    <p:sldId id="353" r:id="rId16"/>
    <p:sldId id="354" r:id="rId17"/>
    <p:sldId id="355" r:id="rId18"/>
    <p:sldId id="356" r:id="rId19"/>
    <p:sldId id="357" r:id="rId20"/>
    <p:sldId id="358" r:id="rId21"/>
    <p:sldId id="362" r:id="rId22"/>
    <p:sldId id="359" r:id="rId23"/>
    <p:sldId id="360" r:id="rId24"/>
    <p:sldId id="361" r:id="rId25"/>
    <p:sldId id="363" r:id="rId26"/>
    <p:sldId id="364" r:id="rId27"/>
    <p:sldId id="365" r:id="rId28"/>
    <p:sldId id="366" r:id="rId29"/>
    <p:sldId id="367" r:id="rId30"/>
    <p:sldId id="368" r:id="rId31"/>
    <p:sldId id="369" r:id="rId32"/>
    <p:sldId id="370" r:id="rId33"/>
    <p:sldId id="371" r:id="rId34"/>
    <p:sldId id="372" r:id="rId35"/>
    <p:sldId id="373" r:id="rId36"/>
    <p:sldId id="374" r:id="rId37"/>
    <p:sldId id="375" r:id="rId38"/>
    <p:sldId id="376" r:id="rId39"/>
    <p:sldId id="377" r:id="rId40"/>
    <p:sldId id="378" r:id="rId41"/>
    <p:sldId id="379" r:id="rId42"/>
    <p:sldId id="380" r:id="rId43"/>
    <p:sldId id="381" r:id="rId44"/>
    <p:sldId id="382" r:id="rId45"/>
    <p:sldId id="383" r:id="rId46"/>
    <p:sldId id="384" r:id="rId47"/>
    <p:sldId id="385" r:id="rId48"/>
    <p:sldId id="386" r:id="rId49"/>
    <p:sldId id="387" r:id="rId50"/>
    <p:sldId id="388" r:id="rId51"/>
    <p:sldId id="389" r:id="rId52"/>
    <p:sldId id="390" r:id="rId53"/>
    <p:sldId id="391" r:id="rId54"/>
    <p:sldId id="392" r:id="rId55"/>
    <p:sldId id="393" r:id="rId56"/>
    <p:sldId id="394" r:id="rId57"/>
    <p:sldId id="395" r:id="rId58"/>
    <p:sldId id="396" r:id="rId59"/>
    <p:sldId id="397" r:id="rId60"/>
    <p:sldId id="398" r:id="rId61"/>
    <p:sldId id="399" r:id="rId62"/>
    <p:sldId id="400" r:id="rId63"/>
    <p:sldId id="401" r:id="rId64"/>
    <p:sldId id="402" r:id="rId65"/>
    <p:sldId id="403" r:id="rId66"/>
    <p:sldId id="404" r:id="rId67"/>
    <p:sldId id="405" r:id="rId68"/>
    <p:sldId id="406" r:id="rId69"/>
    <p:sldId id="407" r:id="rId70"/>
    <p:sldId id="408" r:id="rId71"/>
    <p:sldId id="409" r:id="rId72"/>
    <p:sldId id="410" r:id="rId73"/>
    <p:sldId id="411" r:id="rId74"/>
    <p:sldId id="412" r:id="rId75"/>
    <p:sldId id="413" r:id="rId76"/>
    <p:sldId id="414" r:id="rId77"/>
    <p:sldId id="415" r:id="rId78"/>
    <p:sldId id="416" r:id="rId79"/>
    <p:sldId id="417" r:id="rId80"/>
    <p:sldId id="418" r:id="rId81"/>
    <p:sldId id="419" r:id="rId82"/>
    <p:sldId id="420" r:id="rId83"/>
    <p:sldId id="421" r:id="rId84"/>
    <p:sldId id="422" r:id="rId85"/>
    <p:sldId id="423" r:id="rId86"/>
    <p:sldId id="424" r:id="rId87"/>
    <p:sldId id="425" r:id="rId88"/>
    <p:sldId id="426" r:id="rId89"/>
    <p:sldId id="427" r:id="rId90"/>
    <p:sldId id="428" r:id="rId91"/>
    <p:sldId id="429" r:id="rId92"/>
    <p:sldId id="430" r:id="rId93"/>
    <p:sldId id="332" r:id="rId94"/>
    <p:sldId id="327" r:id="rId9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40DF3F-D089-481F-B648-0396CF9147F0}" type="datetimeFigureOut">
              <a:rPr lang="es-CL" smtClean="0"/>
              <a:t>11-02-2019</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8EC9A2-1CEA-453C-8FB1-6A5EE7E9C685}" type="slidenum">
              <a:rPr lang="es-CL" smtClean="0"/>
              <a:t>‹Nº›</a:t>
            </a:fld>
            <a:endParaRPr lang="es-CL"/>
          </a:p>
        </p:txBody>
      </p:sp>
    </p:spTree>
    <p:extLst>
      <p:ext uri="{BB962C8B-B14F-4D97-AF65-F5344CB8AC3E}">
        <p14:creationId xmlns:p14="http://schemas.microsoft.com/office/powerpoint/2010/main" val="4970174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2/11/2019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dirty="0"/>
              <a:t>2/11/2019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9796027F-7875-4030-9381-8BD8C4F21935}" type="datetimeFigureOut">
              <a:rPr lang="en-US" dirty="0"/>
              <a:t>2/11/2019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2/11/2019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2/11/2019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2/11/2019</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2/11/2019</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7" name="Date Placeholder 4"/>
          <p:cNvSpPr>
            <a:spLocks noGrp="1"/>
          </p:cNvSpPr>
          <p:nvPr>
            <p:ph type="dt" sz="half" idx="10"/>
          </p:nvPr>
        </p:nvSpPr>
        <p:spPr/>
        <p:txBody>
          <a:bodyPr/>
          <a:lstStyle/>
          <a:p>
            <a:fld id="{4509A250-FF31-4206-8172-F9D3106AACB1}" type="datetimeFigureOut">
              <a:rPr lang="en-US" dirty="0"/>
              <a:t>2/11/2019</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4509A250-FF31-4206-8172-F9D3106AACB1}" type="datetimeFigureOut">
              <a:rPr lang="en-US" dirty="0"/>
              <a:t>2/11/2019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4509A250-FF31-4206-8172-F9D3106AACB1}" type="datetimeFigureOut">
              <a:rPr lang="en-US" dirty="0"/>
              <a:t>2/11/2019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s-ES" smtClean="0"/>
              <a:t>Haga clic para modificar el estilo de título del patrón</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4509A250-FF31-4206-8172-F9D3106AACB1}" type="datetimeFigureOut">
              <a:rPr lang="en-US" dirty="0"/>
              <a:t>2/11/2019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s-ES" smtClean="0"/>
              <a:t>Haga clic para modificar el estilo de título del patrón</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s-ES" smtClean="0"/>
              <a:t>Haga clic para modificar el estilo de texto del patrón</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4509A250-FF31-4206-8172-F9D3106AACB1}" type="datetimeFigureOut">
              <a:rPr lang="en-US" dirty="0"/>
              <a:t>2/11/2019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4509A250-FF31-4206-8172-F9D3106AACB1}" type="datetimeFigureOut">
              <a:rPr lang="en-US" dirty="0"/>
              <a:t>2/11/2019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2/11/2019</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2/11/2019</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nchorCtr="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2/11/2019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2/11/2019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2/11/2019</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‹Nº›</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CL" dirty="0" smtClean="0"/>
              <a:t>Introducción a Data </a:t>
            </a:r>
            <a:r>
              <a:rPr lang="es-CL" dirty="0" err="1" smtClean="0"/>
              <a:t>Science</a:t>
            </a:r>
            <a:endParaRPr lang="es-CL" dirty="0"/>
          </a:p>
        </p:txBody>
      </p:sp>
      <p:sp>
        <p:nvSpPr>
          <p:cNvPr id="3" name="Subtítulo 2"/>
          <p:cNvSpPr>
            <a:spLocks noGrp="1"/>
          </p:cNvSpPr>
          <p:nvPr>
            <p:ph type="subTitle" idx="1"/>
          </p:nvPr>
        </p:nvSpPr>
        <p:spPr/>
        <p:txBody>
          <a:bodyPr/>
          <a:lstStyle/>
          <a:p>
            <a:r>
              <a:rPr lang="es-CL" dirty="0" smtClean="0"/>
              <a:t>Rodrigo Alfaro pinto</a:t>
            </a:r>
            <a:endParaRPr lang="es-CL" dirty="0"/>
          </a:p>
        </p:txBody>
      </p:sp>
    </p:spTree>
    <p:extLst>
      <p:ext uri="{BB962C8B-B14F-4D97-AF65-F5344CB8AC3E}">
        <p14:creationId xmlns:p14="http://schemas.microsoft.com/office/powerpoint/2010/main" val="9606500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Agenda día 02</a:t>
            </a:r>
            <a:endParaRPr lang="es-CL" dirty="0"/>
          </a:p>
        </p:txBody>
      </p:sp>
      <p:sp>
        <p:nvSpPr>
          <p:cNvPr id="3" name="Marcador de contenido 2"/>
          <p:cNvSpPr>
            <a:spLocks noGrp="1"/>
          </p:cNvSpPr>
          <p:nvPr>
            <p:ph idx="1"/>
          </p:nvPr>
        </p:nvSpPr>
        <p:spPr/>
        <p:txBody>
          <a:bodyPr/>
          <a:lstStyle/>
          <a:p>
            <a:r>
              <a:rPr lang="es-CL" dirty="0" smtClean="0"/>
              <a:t>Software a utilizar:</a:t>
            </a:r>
          </a:p>
          <a:p>
            <a:pPr lvl="1"/>
            <a:r>
              <a:rPr lang="es-CL" dirty="0" smtClean="0"/>
              <a:t>R</a:t>
            </a:r>
          </a:p>
          <a:p>
            <a:pPr lvl="1"/>
            <a:r>
              <a:rPr lang="es-CL" dirty="0" err="1" smtClean="0"/>
              <a:t>Jupyter</a:t>
            </a:r>
            <a:endParaRPr lang="es-CL" dirty="0" smtClean="0"/>
          </a:p>
          <a:p>
            <a:r>
              <a:rPr lang="es-CL" dirty="0" smtClean="0"/>
              <a:t>Configurar R en </a:t>
            </a:r>
            <a:r>
              <a:rPr lang="es-CL" dirty="0" err="1" smtClean="0"/>
              <a:t>Jupyter</a:t>
            </a:r>
            <a:r>
              <a:rPr lang="es-CL" dirty="0" smtClean="0"/>
              <a:t>.</a:t>
            </a:r>
          </a:p>
          <a:p>
            <a:r>
              <a:rPr lang="es-CL" dirty="0" smtClean="0"/>
              <a:t>Introducción al lenguaje R.</a:t>
            </a:r>
          </a:p>
          <a:p>
            <a:r>
              <a:rPr lang="es-CL" dirty="0" smtClean="0"/>
              <a:t>Ejercicios.</a:t>
            </a:r>
          </a:p>
        </p:txBody>
      </p:sp>
    </p:spTree>
    <p:extLst>
      <p:ext uri="{BB962C8B-B14F-4D97-AF65-F5344CB8AC3E}">
        <p14:creationId xmlns:p14="http://schemas.microsoft.com/office/powerpoint/2010/main" val="13730930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Repositorio del curso</a:t>
            </a:r>
            <a:endParaRPr lang="es-CL" dirty="0"/>
          </a:p>
        </p:txBody>
      </p:sp>
      <p:sp>
        <p:nvSpPr>
          <p:cNvPr id="3" name="Marcador de contenido 2"/>
          <p:cNvSpPr>
            <a:spLocks noGrp="1"/>
          </p:cNvSpPr>
          <p:nvPr>
            <p:ph idx="1"/>
          </p:nvPr>
        </p:nvSpPr>
        <p:spPr/>
        <p:txBody>
          <a:bodyPr>
            <a:normAutofit/>
          </a:bodyPr>
          <a:lstStyle/>
          <a:p>
            <a:pPr marL="0" indent="0">
              <a:buNone/>
            </a:pPr>
            <a:r>
              <a:rPr lang="es-CL" sz="6000" dirty="0"/>
              <a:t>https://bit.ly/2DpcAmd</a:t>
            </a:r>
          </a:p>
        </p:txBody>
      </p:sp>
    </p:spTree>
    <p:extLst>
      <p:ext uri="{BB962C8B-B14F-4D97-AF65-F5344CB8AC3E}">
        <p14:creationId xmlns:p14="http://schemas.microsoft.com/office/powerpoint/2010/main" val="9156929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p:txBody>
          <a:bodyPr/>
          <a:lstStyle/>
          <a:p>
            <a:r>
              <a:rPr lang="es-CL" dirty="0" smtClean="0"/>
              <a:t>Software a utilizar</a:t>
            </a:r>
            <a:endParaRPr lang="es-CL" dirty="0"/>
          </a:p>
        </p:txBody>
      </p:sp>
      <p:sp>
        <p:nvSpPr>
          <p:cNvPr id="5" name="Marcador de texto 4"/>
          <p:cNvSpPr>
            <a:spLocks noGrp="1"/>
          </p:cNvSpPr>
          <p:nvPr>
            <p:ph type="body" sz="half" idx="2"/>
          </p:nvPr>
        </p:nvSpPr>
        <p:spPr/>
        <p:txBody>
          <a:bodyPr/>
          <a:lstStyle/>
          <a:p>
            <a:r>
              <a:rPr lang="es-CL" dirty="0" err="1" smtClean="0"/>
              <a:t>Jupyter</a:t>
            </a:r>
            <a:endParaRPr lang="es-CL" dirty="0" smtClean="0"/>
          </a:p>
          <a:p>
            <a:r>
              <a:rPr lang="es-CL" dirty="0"/>
              <a:t>R</a:t>
            </a:r>
          </a:p>
        </p:txBody>
      </p:sp>
    </p:spTree>
    <p:extLst>
      <p:ext uri="{BB962C8B-B14F-4D97-AF65-F5344CB8AC3E}">
        <p14:creationId xmlns:p14="http://schemas.microsoft.com/office/powerpoint/2010/main" val="862116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p:txBody>
          <a:bodyPr/>
          <a:lstStyle/>
          <a:p>
            <a:r>
              <a:rPr lang="es-CL" dirty="0" smtClean="0"/>
              <a:t>Instalar R, integrar con </a:t>
            </a:r>
            <a:r>
              <a:rPr lang="es-CL" dirty="0" err="1" smtClean="0"/>
              <a:t>Jupyter</a:t>
            </a:r>
            <a:endParaRPr lang="es-CL" dirty="0"/>
          </a:p>
        </p:txBody>
      </p:sp>
      <p:sp>
        <p:nvSpPr>
          <p:cNvPr id="5" name="Marcador de texto 4"/>
          <p:cNvSpPr>
            <a:spLocks noGrp="1"/>
          </p:cNvSpPr>
          <p:nvPr>
            <p:ph type="body" idx="1"/>
          </p:nvPr>
        </p:nvSpPr>
        <p:spPr/>
        <p:txBody>
          <a:bodyPr/>
          <a:lstStyle/>
          <a:p>
            <a:endParaRPr lang="es-CL"/>
          </a:p>
        </p:txBody>
      </p:sp>
    </p:spTree>
    <p:extLst>
      <p:ext uri="{BB962C8B-B14F-4D97-AF65-F5344CB8AC3E}">
        <p14:creationId xmlns:p14="http://schemas.microsoft.com/office/powerpoint/2010/main" val="25634235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p:txBody>
          <a:bodyPr/>
          <a:lstStyle/>
          <a:p>
            <a:r>
              <a:rPr lang="es-CL" dirty="0" smtClean="0"/>
              <a:t>Como instalar R y ejecutar en </a:t>
            </a:r>
            <a:r>
              <a:rPr lang="es-CL" dirty="0" err="1" smtClean="0"/>
              <a:t>Jupyter</a:t>
            </a:r>
            <a:endParaRPr lang="es-CL" dirty="0"/>
          </a:p>
        </p:txBody>
      </p:sp>
      <p:sp>
        <p:nvSpPr>
          <p:cNvPr id="5" name="Marcador de contenido 4"/>
          <p:cNvSpPr>
            <a:spLocks noGrp="1"/>
          </p:cNvSpPr>
          <p:nvPr>
            <p:ph idx="1"/>
          </p:nvPr>
        </p:nvSpPr>
        <p:spPr/>
        <p:txBody>
          <a:bodyPr>
            <a:normAutofit/>
          </a:bodyPr>
          <a:lstStyle/>
          <a:p>
            <a:r>
              <a:rPr lang="es-CL" sz="3600" dirty="0"/>
              <a:t>https://</a:t>
            </a:r>
            <a:r>
              <a:rPr lang="es-CL" sz="3600" dirty="0" smtClean="0"/>
              <a:t>pastebin.com/YUVJKVN3</a:t>
            </a:r>
          </a:p>
          <a:p>
            <a:r>
              <a:rPr lang="es-CL" sz="3600" dirty="0" smtClean="0"/>
              <a:t>Luego, ejecutar </a:t>
            </a:r>
            <a:r>
              <a:rPr lang="es-CL" sz="3600" dirty="0" err="1" smtClean="0"/>
              <a:t>Jupyter</a:t>
            </a:r>
            <a:endParaRPr lang="es-CL" sz="3600" dirty="0" smtClean="0"/>
          </a:p>
          <a:p>
            <a:endParaRPr lang="es-CL" sz="3600" dirty="0"/>
          </a:p>
          <a:p>
            <a:pPr fontAlgn="t"/>
            <a:r>
              <a:rPr lang="es-CL" sz="1400" dirty="0"/>
              <a:t>##### Esto es en la consola de R</a:t>
            </a:r>
          </a:p>
          <a:p>
            <a:pPr fontAlgn="t"/>
            <a:r>
              <a:rPr lang="es-CL" sz="1400" dirty="0" err="1"/>
              <a:t>install.packages</a:t>
            </a:r>
            <a:r>
              <a:rPr lang="es-CL" sz="1400" dirty="0"/>
              <a:t>(c('</a:t>
            </a:r>
            <a:r>
              <a:rPr lang="es-CL" sz="1400" dirty="0" err="1"/>
              <a:t>repr</a:t>
            </a:r>
            <a:r>
              <a:rPr lang="es-CL" sz="1400" dirty="0"/>
              <a:t>', '</a:t>
            </a:r>
            <a:r>
              <a:rPr lang="es-CL" sz="1400" dirty="0" err="1"/>
              <a:t>IRdisplay</a:t>
            </a:r>
            <a:r>
              <a:rPr lang="es-CL" sz="1400" dirty="0"/>
              <a:t>', '</a:t>
            </a:r>
            <a:r>
              <a:rPr lang="es-CL" sz="1400" dirty="0" err="1"/>
              <a:t>evaluate</a:t>
            </a:r>
            <a:r>
              <a:rPr lang="es-CL" sz="1400" dirty="0"/>
              <a:t>', '</a:t>
            </a:r>
            <a:r>
              <a:rPr lang="es-CL" sz="1400" dirty="0" err="1"/>
              <a:t>crayon</a:t>
            </a:r>
            <a:r>
              <a:rPr lang="es-CL" sz="1400" dirty="0"/>
              <a:t>', '</a:t>
            </a:r>
            <a:r>
              <a:rPr lang="es-CL" sz="1400" dirty="0" err="1"/>
              <a:t>pbdZMQ</a:t>
            </a:r>
            <a:r>
              <a:rPr lang="es-CL" sz="1400" dirty="0"/>
              <a:t>', '</a:t>
            </a:r>
            <a:r>
              <a:rPr lang="es-CL" sz="1400" dirty="0" err="1"/>
              <a:t>devtools</a:t>
            </a:r>
            <a:r>
              <a:rPr lang="es-CL" sz="1400" dirty="0"/>
              <a:t>', '</a:t>
            </a:r>
            <a:r>
              <a:rPr lang="es-CL" sz="1400" dirty="0" err="1"/>
              <a:t>uuid</a:t>
            </a:r>
            <a:r>
              <a:rPr lang="es-CL" sz="1400" dirty="0"/>
              <a:t>', '</a:t>
            </a:r>
            <a:r>
              <a:rPr lang="es-CL" sz="1400" dirty="0" err="1"/>
              <a:t>digest</a:t>
            </a:r>
            <a:r>
              <a:rPr lang="es-CL" sz="1400" dirty="0"/>
              <a:t>'))</a:t>
            </a:r>
          </a:p>
          <a:p>
            <a:pPr fontAlgn="t"/>
            <a:r>
              <a:rPr lang="es-CL" sz="1400" dirty="0" err="1"/>
              <a:t>devtools</a:t>
            </a:r>
            <a:r>
              <a:rPr lang="es-CL" sz="1400" dirty="0"/>
              <a:t>::</a:t>
            </a:r>
            <a:r>
              <a:rPr lang="es-CL" sz="1400" dirty="0" err="1"/>
              <a:t>install_github</a:t>
            </a:r>
            <a:r>
              <a:rPr lang="es-CL" sz="1400" dirty="0"/>
              <a:t>('</a:t>
            </a:r>
            <a:r>
              <a:rPr lang="es-CL" sz="1400" dirty="0" err="1"/>
              <a:t>IRkernel</a:t>
            </a:r>
            <a:r>
              <a:rPr lang="es-CL" sz="1400" dirty="0"/>
              <a:t>/</a:t>
            </a:r>
            <a:r>
              <a:rPr lang="es-CL" sz="1400" dirty="0" err="1"/>
              <a:t>IRkernel</a:t>
            </a:r>
            <a:r>
              <a:rPr lang="es-CL" sz="1400" dirty="0"/>
              <a:t>')</a:t>
            </a:r>
          </a:p>
          <a:p>
            <a:pPr fontAlgn="t"/>
            <a:r>
              <a:rPr lang="es-CL" sz="1400" dirty="0"/>
              <a:t>#### Esto se pega en la consola de </a:t>
            </a:r>
            <a:r>
              <a:rPr lang="es-CL" sz="1400" dirty="0" smtClean="0"/>
              <a:t>anaconda como administrador</a:t>
            </a:r>
            <a:endParaRPr lang="es-CL" sz="1400" dirty="0"/>
          </a:p>
          <a:p>
            <a:pPr fontAlgn="t"/>
            <a:r>
              <a:rPr lang="es-CL" sz="1400" dirty="0" err="1"/>
              <a:t>conda</a:t>
            </a:r>
            <a:r>
              <a:rPr lang="es-CL" sz="1400" dirty="0"/>
              <a:t> </a:t>
            </a:r>
            <a:r>
              <a:rPr lang="es-CL" sz="1400" dirty="0" err="1"/>
              <a:t>install</a:t>
            </a:r>
            <a:r>
              <a:rPr lang="es-CL" sz="1400" dirty="0"/>
              <a:t> -c r r-</a:t>
            </a:r>
            <a:r>
              <a:rPr lang="es-CL" sz="1400" dirty="0" err="1"/>
              <a:t>essentials</a:t>
            </a:r>
            <a:endParaRPr lang="es-CL" sz="1400" dirty="0"/>
          </a:p>
          <a:p>
            <a:endParaRPr lang="es-CL" sz="3600" dirty="0"/>
          </a:p>
        </p:txBody>
      </p:sp>
    </p:spTree>
    <p:extLst>
      <p:ext uri="{BB962C8B-B14F-4D97-AF65-F5344CB8AC3E}">
        <p14:creationId xmlns:p14="http://schemas.microsoft.com/office/powerpoint/2010/main" val="5336656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Ahora podemos usar </a:t>
            </a:r>
            <a:r>
              <a:rPr lang="es-CL" dirty="0" err="1" smtClean="0"/>
              <a:t>Jupyter</a:t>
            </a:r>
            <a:r>
              <a:rPr lang="es-CL" dirty="0" smtClean="0"/>
              <a:t> y R</a:t>
            </a:r>
            <a:endParaRPr lang="es-CL" dirty="0"/>
          </a:p>
        </p:txBody>
      </p:sp>
      <p:pic>
        <p:nvPicPr>
          <p:cNvPr id="4" name="Marcador de contenido 3"/>
          <p:cNvPicPr>
            <a:picLocks noGrp="1" noChangeAspect="1"/>
          </p:cNvPicPr>
          <p:nvPr>
            <p:ph idx="1"/>
          </p:nvPr>
        </p:nvPicPr>
        <p:blipFill>
          <a:blip r:embed="rId2"/>
          <a:stretch>
            <a:fillRect/>
          </a:stretch>
        </p:blipFill>
        <p:spPr>
          <a:xfrm>
            <a:off x="1103313" y="2848369"/>
            <a:ext cx="8947150" cy="2604299"/>
          </a:xfrm>
          <a:prstGeom prst="rect">
            <a:avLst/>
          </a:prstGeom>
        </p:spPr>
      </p:pic>
    </p:spTree>
    <p:extLst>
      <p:ext uri="{BB962C8B-B14F-4D97-AF65-F5344CB8AC3E}">
        <p14:creationId xmlns:p14="http://schemas.microsoft.com/office/powerpoint/2010/main" val="3679868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Introducción al lenguaje R</a:t>
            </a:r>
            <a:endParaRPr lang="es-CL" dirty="0"/>
          </a:p>
        </p:txBody>
      </p:sp>
      <p:sp>
        <p:nvSpPr>
          <p:cNvPr id="3" name="Marcador de contenido 2"/>
          <p:cNvSpPr>
            <a:spLocks noGrp="1"/>
          </p:cNvSpPr>
          <p:nvPr>
            <p:ph idx="1"/>
          </p:nvPr>
        </p:nvSpPr>
        <p:spPr/>
        <p:txBody>
          <a:bodyPr/>
          <a:lstStyle/>
          <a:p>
            <a:r>
              <a:rPr lang="es-ES" dirty="0"/>
              <a:t>R es un lenguaje de programación orientado al análisis estadístico y a la representación gráfica de los resultados obtenidos.</a:t>
            </a:r>
          </a:p>
          <a:p>
            <a:r>
              <a:rPr lang="es-ES" dirty="0"/>
              <a:t>Es un proyecto GNU. Por lo tanto, los usuarios son libres de modificarlo y extenderlo. Se trata de un lenguaje basado en comandos.</a:t>
            </a:r>
          </a:p>
          <a:p>
            <a:r>
              <a:rPr lang="es-ES" dirty="0"/>
              <a:t>R es un lenguaje Orientado a Objetos.</a:t>
            </a:r>
          </a:p>
          <a:p>
            <a:r>
              <a:rPr lang="es-ES" dirty="0"/>
              <a:t>R es un lenguaje interpretado (como Java) y no compilado (como C, C++, Fortran, Pascal)</a:t>
            </a:r>
          </a:p>
        </p:txBody>
      </p:sp>
    </p:spTree>
    <p:extLst>
      <p:ext uri="{BB962C8B-B14F-4D97-AF65-F5344CB8AC3E}">
        <p14:creationId xmlns:p14="http://schemas.microsoft.com/office/powerpoint/2010/main" val="25253069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Introducción al lenguaje R</a:t>
            </a:r>
            <a:endParaRPr lang="es-CL" dirty="0"/>
          </a:p>
        </p:txBody>
      </p:sp>
      <p:sp>
        <p:nvSpPr>
          <p:cNvPr id="3" name="Marcador de contenido 2"/>
          <p:cNvSpPr>
            <a:spLocks noGrp="1"/>
          </p:cNvSpPr>
          <p:nvPr>
            <p:ph idx="1"/>
          </p:nvPr>
        </p:nvSpPr>
        <p:spPr/>
        <p:txBody>
          <a:bodyPr>
            <a:normAutofit/>
          </a:bodyPr>
          <a:lstStyle/>
          <a:p>
            <a:r>
              <a:rPr lang="es-ES" dirty="0"/>
              <a:t>Cuando se instala R se instalan </a:t>
            </a:r>
            <a:r>
              <a:rPr lang="es-ES" dirty="0" smtClean="0"/>
              <a:t>también </a:t>
            </a:r>
            <a:r>
              <a:rPr lang="es-ES" dirty="0"/>
              <a:t>una serie de paquetes </a:t>
            </a:r>
            <a:r>
              <a:rPr lang="es-ES" dirty="0" smtClean="0"/>
              <a:t>básicos</a:t>
            </a:r>
            <a:r>
              <a:rPr lang="es-ES" dirty="0"/>
              <a:t>, </a:t>
            </a:r>
            <a:r>
              <a:rPr lang="es-ES" dirty="0" smtClean="0"/>
              <a:t>que traen </a:t>
            </a:r>
            <a:r>
              <a:rPr lang="es-ES" dirty="0"/>
              <a:t>implementadas </a:t>
            </a:r>
            <a:r>
              <a:rPr lang="es-ES" dirty="0" smtClean="0"/>
              <a:t>m</a:t>
            </a:r>
            <a:r>
              <a:rPr lang="es-ES" dirty="0"/>
              <a:t>ú</a:t>
            </a:r>
            <a:r>
              <a:rPr lang="es-ES" dirty="0" smtClean="0"/>
              <a:t>ltiples </a:t>
            </a:r>
            <a:r>
              <a:rPr lang="es-ES" dirty="0"/>
              <a:t>funciones para la </a:t>
            </a:r>
            <a:r>
              <a:rPr lang="es-ES" dirty="0" smtClean="0"/>
              <a:t>realizaci</a:t>
            </a:r>
            <a:r>
              <a:rPr lang="es-ES" dirty="0"/>
              <a:t>ó</a:t>
            </a:r>
            <a:r>
              <a:rPr lang="es-ES" dirty="0" smtClean="0"/>
              <a:t>n </a:t>
            </a:r>
            <a:r>
              <a:rPr lang="es-ES" dirty="0"/>
              <a:t>de </a:t>
            </a:r>
            <a:r>
              <a:rPr lang="es-ES" dirty="0" smtClean="0"/>
              <a:t>tareas rutinarias</a:t>
            </a:r>
            <a:r>
              <a:rPr lang="es-ES" dirty="0"/>
              <a:t>, como la </a:t>
            </a:r>
            <a:r>
              <a:rPr lang="es-ES" dirty="0" smtClean="0"/>
              <a:t>representaci</a:t>
            </a:r>
            <a:r>
              <a:rPr lang="es-ES" dirty="0"/>
              <a:t>ó</a:t>
            </a:r>
            <a:r>
              <a:rPr lang="es-ES" dirty="0" smtClean="0"/>
              <a:t>n gráfica </a:t>
            </a:r>
            <a:r>
              <a:rPr lang="es-ES" dirty="0"/>
              <a:t>y la </a:t>
            </a:r>
            <a:r>
              <a:rPr lang="es-ES" dirty="0" smtClean="0"/>
              <a:t>manipulaci</a:t>
            </a:r>
            <a:r>
              <a:rPr lang="es-ES" dirty="0"/>
              <a:t>ó</a:t>
            </a:r>
            <a:r>
              <a:rPr lang="es-ES" dirty="0" smtClean="0"/>
              <a:t>n </a:t>
            </a:r>
            <a:r>
              <a:rPr lang="es-ES" dirty="0"/>
              <a:t>de datos, el </a:t>
            </a:r>
            <a:r>
              <a:rPr lang="es-ES" dirty="0" smtClean="0"/>
              <a:t>ajuste de </a:t>
            </a:r>
            <a:r>
              <a:rPr lang="es-ES" dirty="0"/>
              <a:t>modelos lineales o modelos lineales generalizados, </a:t>
            </a:r>
            <a:r>
              <a:rPr lang="es-ES" dirty="0" smtClean="0"/>
              <a:t>etc.</a:t>
            </a:r>
          </a:p>
          <a:p>
            <a:r>
              <a:rPr lang="es-ES" dirty="0" smtClean="0"/>
              <a:t>Sin </a:t>
            </a:r>
            <a:r>
              <a:rPr lang="es-ES" dirty="0"/>
              <a:t>embargo, </a:t>
            </a:r>
            <a:r>
              <a:rPr lang="es-ES" dirty="0" smtClean="0"/>
              <a:t>el verdadero </a:t>
            </a:r>
            <a:r>
              <a:rPr lang="es-ES" dirty="0"/>
              <a:t>potencial de R viene dado por la forma en que se van </a:t>
            </a:r>
            <a:r>
              <a:rPr lang="es-ES" dirty="0" smtClean="0"/>
              <a:t>extendiendo constantemente </a:t>
            </a:r>
            <a:r>
              <a:rPr lang="es-ES" dirty="0"/>
              <a:t>sus capacidades por medio de paquetes</a:t>
            </a:r>
            <a:r>
              <a:rPr lang="es-ES" dirty="0" smtClean="0"/>
              <a:t>.</a:t>
            </a:r>
          </a:p>
          <a:p>
            <a:r>
              <a:rPr lang="es-ES" dirty="0"/>
              <a:t>Los paquetes </a:t>
            </a:r>
            <a:r>
              <a:rPr lang="es-ES" dirty="0" smtClean="0"/>
              <a:t>están constituidos </a:t>
            </a:r>
            <a:r>
              <a:rPr lang="es-ES" dirty="0"/>
              <a:t>por una serie de programas compilados y vinculados con R </a:t>
            </a:r>
            <a:r>
              <a:rPr lang="es-ES" dirty="0" smtClean="0"/>
              <a:t>junto con </a:t>
            </a:r>
            <a:r>
              <a:rPr lang="es-ES" dirty="0"/>
              <a:t>un archivo de ayuda que documenta sus capacidades.</a:t>
            </a:r>
          </a:p>
        </p:txBody>
      </p:sp>
    </p:spTree>
    <p:extLst>
      <p:ext uri="{BB962C8B-B14F-4D97-AF65-F5344CB8AC3E}">
        <p14:creationId xmlns:p14="http://schemas.microsoft.com/office/powerpoint/2010/main" val="40708619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Introducción al lenguaje R</a:t>
            </a:r>
            <a:endParaRPr lang="es-CL" dirty="0"/>
          </a:p>
        </p:txBody>
      </p:sp>
      <p:sp>
        <p:nvSpPr>
          <p:cNvPr id="3" name="Marcador de contenido 2"/>
          <p:cNvSpPr>
            <a:spLocks noGrp="1"/>
          </p:cNvSpPr>
          <p:nvPr>
            <p:ph idx="1"/>
          </p:nvPr>
        </p:nvSpPr>
        <p:spPr/>
        <p:txBody>
          <a:bodyPr>
            <a:normAutofit/>
          </a:bodyPr>
          <a:lstStyle/>
          <a:p>
            <a:r>
              <a:rPr lang="es-ES" dirty="0" smtClean="0"/>
              <a:t>Los paquetes y su documentación pueden revisarlos en:</a:t>
            </a:r>
          </a:p>
          <a:p>
            <a:r>
              <a:rPr lang="es-ES" dirty="0"/>
              <a:t>https://bit.ly/2eTPCZY</a:t>
            </a:r>
          </a:p>
        </p:txBody>
      </p:sp>
    </p:spTree>
    <p:extLst>
      <p:ext uri="{BB962C8B-B14F-4D97-AF65-F5344CB8AC3E}">
        <p14:creationId xmlns:p14="http://schemas.microsoft.com/office/powerpoint/2010/main" val="6922709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Introducción al lenguaje R</a:t>
            </a:r>
            <a:endParaRPr lang="es-CL" dirty="0"/>
          </a:p>
        </p:txBody>
      </p:sp>
      <p:sp>
        <p:nvSpPr>
          <p:cNvPr id="3" name="Marcador de contenido 2"/>
          <p:cNvSpPr>
            <a:spLocks noGrp="1"/>
          </p:cNvSpPr>
          <p:nvPr>
            <p:ph idx="1"/>
          </p:nvPr>
        </p:nvSpPr>
        <p:spPr/>
        <p:txBody>
          <a:bodyPr>
            <a:normAutofit/>
          </a:bodyPr>
          <a:lstStyle/>
          <a:p>
            <a:r>
              <a:rPr lang="es-ES" dirty="0" smtClean="0"/>
              <a:t>El comando para instalar paquetes es:</a:t>
            </a:r>
          </a:p>
          <a:p>
            <a:r>
              <a:rPr lang="es-ES" dirty="0" err="1"/>
              <a:t>install.packages</a:t>
            </a:r>
            <a:r>
              <a:rPr lang="es-ES" dirty="0" smtClean="0"/>
              <a:t>(“</a:t>
            </a:r>
            <a:r>
              <a:rPr lang="es-ES" dirty="0" err="1" smtClean="0"/>
              <a:t>nombrepaquete</a:t>
            </a:r>
            <a:r>
              <a:rPr lang="es-ES" dirty="0" smtClean="0"/>
              <a:t>”, </a:t>
            </a:r>
            <a:r>
              <a:rPr lang="es-ES" dirty="0" err="1"/>
              <a:t>dep</a:t>
            </a:r>
            <a:r>
              <a:rPr lang="es-ES" dirty="0"/>
              <a:t> = T</a:t>
            </a:r>
            <a:r>
              <a:rPr lang="es-ES" dirty="0" smtClean="0"/>
              <a:t>)</a:t>
            </a:r>
          </a:p>
          <a:p>
            <a:r>
              <a:rPr lang="es-ES" dirty="0"/>
              <a:t>El argumento </a:t>
            </a:r>
            <a:r>
              <a:rPr lang="es-ES" dirty="0" err="1"/>
              <a:t>dep</a:t>
            </a:r>
            <a:r>
              <a:rPr lang="es-ES" dirty="0"/>
              <a:t> = T indica a R que instale cualquier otro paquete que </a:t>
            </a:r>
            <a:r>
              <a:rPr lang="es-ES" dirty="0" smtClean="0"/>
              <a:t>sea requerido </a:t>
            </a:r>
            <a:r>
              <a:rPr lang="es-ES" dirty="0"/>
              <a:t>para el correcto funcionamiento de los paquetes principales </a:t>
            </a:r>
            <a:r>
              <a:rPr lang="es-ES" dirty="0" smtClean="0"/>
              <a:t>que queremos </a:t>
            </a:r>
            <a:r>
              <a:rPr lang="es-ES" dirty="0"/>
              <a:t>instalar.</a:t>
            </a:r>
          </a:p>
        </p:txBody>
      </p:sp>
    </p:spTree>
    <p:extLst>
      <p:ext uri="{BB962C8B-B14F-4D97-AF65-F5344CB8AC3E}">
        <p14:creationId xmlns:p14="http://schemas.microsoft.com/office/powerpoint/2010/main" val="20580660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Introducción al lenguaje R</a:t>
            </a:r>
            <a:endParaRPr lang="es-CL" dirty="0"/>
          </a:p>
        </p:txBody>
      </p:sp>
      <p:sp>
        <p:nvSpPr>
          <p:cNvPr id="3" name="Marcador de contenido 2"/>
          <p:cNvSpPr>
            <a:spLocks noGrp="1"/>
          </p:cNvSpPr>
          <p:nvPr>
            <p:ph idx="1"/>
          </p:nvPr>
        </p:nvSpPr>
        <p:spPr/>
        <p:txBody>
          <a:bodyPr>
            <a:normAutofit/>
          </a:bodyPr>
          <a:lstStyle/>
          <a:p>
            <a:r>
              <a:rPr lang="es-ES" dirty="0" smtClean="0"/>
              <a:t>R es </a:t>
            </a:r>
            <a:r>
              <a:rPr lang="es-ES" dirty="0"/>
              <a:t>un lenguaje orientado a objetos. Esto </a:t>
            </a:r>
            <a:r>
              <a:rPr lang="es-ES" dirty="0" smtClean="0"/>
              <a:t>significa que los </a:t>
            </a:r>
            <a:r>
              <a:rPr lang="es-ES" dirty="0"/>
              <a:t>diferentes objetos a los que se aplican los comandos de R tienen </a:t>
            </a:r>
            <a:r>
              <a:rPr lang="es-ES" dirty="0" smtClean="0"/>
              <a:t>ciertas características </a:t>
            </a:r>
            <a:r>
              <a:rPr lang="es-ES" dirty="0"/>
              <a:t>y </a:t>
            </a:r>
            <a:r>
              <a:rPr lang="es-ES" dirty="0" smtClean="0"/>
              <a:t>atributos.</a:t>
            </a:r>
          </a:p>
          <a:p>
            <a:r>
              <a:rPr lang="es-ES" dirty="0" smtClean="0"/>
              <a:t>Cada </a:t>
            </a:r>
            <a:r>
              <a:rPr lang="es-ES" dirty="0"/>
              <a:t>comando reconoce estos atributos y </a:t>
            </a:r>
            <a:r>
              <a:rPr lang="es-ES" dirty="0" smtClean="0"/>
              <a:t>act</a:t>
            </a:r>
            <a:r>
              <a:rPr lang="es-ES" dirty="0"/>
              <a:t>ú</a:t>
            </a:r>
            <a:r>
              <a:rPr lang="es-ES" dirty="0" smtClean="0"/>
              <a:t>a de diferente </a:t>
            </a:r>
            <a:r>
              <a:rPr lang="es-ES" dirty="0"/>
              <a:t>forma en </a:t>
            </a:r>
            <a:r>
              <a:rPr lang="es-ES" dirty="0" smtClean="0"/>
              <a:t>funci</a:t>
            </a:r>
            <a:r>
              <a:rPr lang="es-ES" dirty="0"/>
              <a:t>ó</a:t>
            </a:r>
            <a:r>
              <a:rPr lang="es-ES" dirty="0" smtClean="0"/>
              <a:t>n </a:t>
            </a:r>
            <a:r>
              <a:rPr lang="es-ES" dirty="0"/>
              <a:t>de ellos. El mismo comando aplicado a </a:t>
            </a:r>
            <a:r>
              <a:rPr lang="es-ES" dirty="0" smtClean="0"/>
              <a:t>diferentes tipos </a:t>
            </a:r>
            <a:r>
              <a:rPr lang="es-ES" dirty="0"/>
              <a:t>de objetos puede hacer cosas diferentes o, simplemente, no funcionar </a:t>
            </a:r>
            <a:r>
              <a:rPr lang="es-ES" dirty="0" smtClean="0"/>
              <a:t>si no </a:t>
            </a:r>
            <a:r>
              <a:rPr lang="es-ES" dirty="0"/>
              <a:t>tiene el tipo de objeto requerido.</a:t>
            </a:r>
          </a:p>
        </p:txBody>
      </p:sp>
    </p:spTree>
    <p:extLst>
      <p:ext uri="{BB962C8B-B14F-4D97-AF65-F5344CB8AC3E}">
        <p14:creationId xmlns:p14="http://schemas.microsoft.com/office/powerpoint/2010/main" val="9216555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Introducción al lenguaje R</a:t>
            </a:r>
            <a:endParaRPr lang="es-CL" dirty="0"/>
          </a:p>
        </p:txBody>
      </p:sp>
      <p:sp>
        <p:nvSpPr>
          <p:cNvPr id="3" name="Marcador de contenido 2"/>
          <p:cNvSpPr>
            <a:spLocks noGrp="1"/>
          </p:cNvSpPr>
          <p:nvPr>
            <p:ph idx="1"/>
          </p:nvPr>
        </p:nvSpPr>
        <p:spPr/>
        <p:txBody>
          <a:bodyPr>
            <a:normAutofit/>
          </a:bodyPr>
          <a:lstStyle/>
          <a:p>
            <a:r>
              <a:rPr lang="es-ES" dirty="0" smtClean="0"/>
              <a:t>x </a:t>
            </a:r>
            <a:r>
              <a:rPr lang="es-ES" dirty="0"/>
              <a:t>&lt;- 2.3</a:t>
            </a:r>
          </a:p>
          <a:p>
            <a:r>
              <a:rPr lang="es-ES" dirty="0" err="1" smtClean="0"/>
              <a:t>mode</a:t>
            </a:r>
            <a:r>
              <a:rPr lang="es-ES" dirty="0" smtClean="0"/>
              <a:t>(x</a:t>
            </a:r>
            <a:r>
              <a:rPr lang="es-ES" dirty="0"/>
              <a:t>)</a:t>
            </a:r>
          </a:p>
        </p:txBody>
      </p:sp>
      <p:sp>
        <p:nvSpPr>
          <p:cNvPr id="5" name="Rectángulo 4"/>
          <p:cNvSpPr/>
          <p:nvPr/>
        </p:nvSpPr>
        <p:spPr>
          <a:xfrm>
            <a:off x="5035638" y="1853248"/>
            <a:ext cx="1841679" cy="79849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CL" dirty="0" err="1" smtClean="0"/>
              <a:t>Asignador</a:t>
            </a:r>
            <a:endParaRPr lang="es-CL" dirty="0"/>
          </a:p>
        </p:txBody>
      </p:sp>
      <p:sp>
        <p:nvSpPr>
          <p:cNvPr id="6" name="Rectángulo 5"/>
          <p:cNvSpPr/>
          <p:nvPr/>
        </p:nvSpPr>
        <p:spPr>
          <a:xfrm>
            <a:off x="5035638" y="2851408"/>
            <a:ext cx="1841679" cy="79849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CL" dirty="0" smtClean="0"/>
              <a:t>Variable</a:t>
            </a:r>
            <a:endParaRPr lang="es-CL" dirty="0"/>
          </a:p>
        </p:txBody>
      </p:sp>
      <p:sp>
        <p:nvSpPr>
          <p:cNvPr id="7" name="Rectángulo 6"/>
          <p:cNvSpPr/>
          <p:nvPr/>
        </p:nvSpPr>
        <p:spPr>
          <a:xfrm>
            <a:off x="5035638" y="3890254"/>
            <a:ext cx="1841679" cy="79849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CL" dirty="0" smtClean="0"/>
              <a:t>Valor</a:t>
            </a:r>
            <a:endParaRPr lang="es-CL" dirty="0"/>
          </a:p>
        </p:txBody>
      </p:sp>
      <p:cxnSp>
        <p:nvCxnSpPr>
          <p:cNvPr id="9" name="Conector recto de flecha 8"/>
          <p:cNvCxnSpPr>
            <a:endCxn id="6" idx="1"/>
          </p:cNvCxnSpPr>
          <p:nvPr/>
        </p:nvCxnSpPr>
        <p:spPr>
          <a:xfrm>
            <a:off x="1622738" y="2369713"/>
            <a:ext cx="3412900" cy="8809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Conector recto de flecha 10"/>
          <p:cNvCxnSpPr>
            <a:endCxn id="5" idx="1"/>
          </p:cNvCxnSpPr>
          <p:nvPr/>
        </p:nvCxnSpPr>
        <p:spPr>
          <a:xfrm>
            <a:off x="1854558" y="2192605"/>
            <a:ext cx="3181080" cy="598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Conector recto de flecha 12"/>
          <p:cNvCxnSpPr>
            <a:endCxn id="7" idx="1"/>
          </p:cNvCxnSpPr>
          <p:nvPr/>
        </p:nvCxnSpPr>
        <p:spPr>
          <a:xfrm>
            <a:off x="2395470" y="2330599"/>
            <a:ext cx="2640168" cy="1958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83636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Introducción a R</a:t>
            </a:r>
            <a:endParaRPr lang="es-CL" dirty="0"/>
          </a:p>
        </p:txBody>
      </p:sp>
      <p:sp>
        <p:nvSpPr>
          <p:cNvPr id="3" name="Marcador de contenido 2"/>
          <p:cNvSpPr>
            <a:spLocks noGrp="1"/>
          </p:cNvSpPr>
          <p:nvPr>
            <p:ph idx="1"/>
          </p:nvPr>
        </p:nvSpPr>
        <p:spPr/>
        <p:txBody>
          <a:bodyPr>
            <a:normAutofit/>
          </a:bodyPr>
          <a:lstStyle/>
          <a:p>
            <a:r>
              <a:rPr lang="es-ES" dirty="0"/>
              <a:t>Muy frecuentemente, los datos se disponen en tablas: las hojas de cálculo, las bases de datos, los ficheros </a:t>
            </a:r>
            <a:r>
              <a:rPr lang="es-ES" dirty="0" err="1"/>
              <a:t>csv</a:t>
            </a:r>
            <a:r>
              <a:rPr lang="es-ES" dirty="0"/>
              <a:t>, etc. contienen, esencialmente, </a:t>
            </a:r>
            <a:r>
              <a:rPr lang="es-ES" dirty="0" smtClean="0"/>
              <a:t>tablas.</a:t>
            </a:r>
          </a:p>
          <a:p>
            <a:r>
              <a:rPr lang="es-ES" dirty="0" smtClean="0"/>
              <a:t>Además</a:t>
            </a:r>
            <a:r>
              <a:rPr lang="es-ES" dirty="0"/>
              <a:t>, casi todos los métodos estadísticos (</a:t>
            </a:r>
            <a:r>
              <a:rPr lang="es-ES" dirty="0" err="1"/>
              <a:t>p.e</a:t>
            </a:r>
            <a:r>
              <a:rPr lang="es-ES" dirty="0"/>
              <a:t>., la regresión lineal) operan sobre información organizada en </a:t>
            </a:r>
            <a:r>
              <a:rPr lang="es-ES" dirty="0" smtClean="0"/>
              <a:t>tablas.</a:t>
            </a:r>
          </a:p>
          <a:p>
            <a:r>
              <a:rPr lang="es-ES" dirty="0" smtClean="0"/>
              <a:t>Como </a:t>
            </a:r>
            <a:r>
              <a:rPr lang="es-ES" dirty="0"/>
              <a:t>consecuencia, gran parte del día a día del trabajo con R consiste en manipular tablas de datos para darles el formato necesario para acabar analizándolos estadística o gráficamente</a:t>
            </a:r>
            <a:r>
              <a:rPr lang="es-ES" dirty="0" smtClean="0"/>
              <a:t>.</a:t>
            </a:r>
          </a:p>
          <a:p>
            <a:r>
              <a:rPr lang="es-ES" b="1" u="sng" dirty="0" smtClean="0"/>
              <a:t>Tablas = </a:t>
            </a:r>
            <a:r>
              <a:rPr lang="es-ES" b="1" u="sng" dirty="0" err="1" smtClean="0"/>
              <a:t>dataframes</a:t>
            </a:r>
            <a:endParaRPr lang="es-CL" b="1" u="sng" dirty="0"/>
          </a:p>
        </p:txBody>
      </p:sp>
    </p:spTree>
    <p:extLst>
      <p:ext uri="{BB962C8B-B14F-4D97-AF65-F5344CB8AC3E}">
        <p14:creationId xmlns:p14="http://schemas.microsoft.com/office/powerpoint/2010/main" val="14912446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Conocer el conjunto de datos</a:t>
            </a:r>
            <a:endParaRPr lang="es-CL" dirty="0"/>
          </a:p>
        </p:txBody>
      </p:sp>
      <p:sp>
        <p:nvSpPr>
          <p:cNvPr id="3" name="Marcador de contenido 2"/>
          <p:cNvSpPr>
            <a:spLocks noGrp="1"/>
          </p:cNvSpPr>
          <p:nvPr>
            <p:ph idx="1"/>
          </p:nvPr>
        </p:nvSpPr>
        <p:spPr/>
        <p:txBody>
          <a:bodyPr>
            <a:normAutofit/>
          </a:bodyPr>
          <a:lstStyle/>
          <a:p>
            <a:r>
              <a:rPr lang="es-CL" dirty="0" smtClean="0"/>
              <a:t>Lo primero a realizar cuando se trabaja en R es </a:t>
            </a:r>
            <a:r>
              <a:rPr lang="es-ES" dirty="0"/>
              <a:t>inspeccionar los contenidos de una </a:t>
            </a:r>
            <a:r>
              <a:rPr lang="es-ES" dirty="0" smtClean="0"/>
              <a:t>tabla.</a:t>
            </a:r>
          </a:p>
          <a:p>
            <a:r>
              <a:rPr lang="es-ES" dirty="0" smtClean="0"/>
              <a:t>Se debe hacer cuando se recibe </a:t>
            </a:r>
            <a:r>
              <a:rPr lang="es-ES" dirty="0"/>
              <a:t>un conjunto nuevo de datos: averiguar cuántas filas y columnas tiene, de qué tipo (numérico o no) son sus columnas, etc</a:t>
            </a:r>
            <a:r>
              <a:rPr lang="es-ES" dirty="0" smtClean="0"/>
              <a:t>.</a:t>
            </a:r>
          </a:p>
          <a:p>
            <a:r>
              <a:rPr lang="es-ES" dirty="0" smtClean="0"/>
              <a:t>Para </a:t>
            </a:r>
            <a:r>
              <a:rPr lang="es-ES" dirty="0"/>
              <a:t>inspeccionar una tabla es fundamental conocer su </a:t>
            </a:r>
            <a:r>
              <a:rPr lang="es-ES" dirty="0" smtClean="0"/>
              <a:t>tamaño.</a:t>
            </a:r>
          </a:p>
          <a:p>
            <a:r>
              <a:rPr lang="es-ES" dirty="0" smtClean="0"/>
              <a:t>La función a utilizar es </a:t>
            </a:r>
            <a:r>
              <a:rPr lang="es-ES" dirty="0" err="1" smtClean="0"/>
              <a:t>dim</a:t>
            </a:r>
            <a:r>
              <a:rPr lang="es-ES" dirty="0" smtClean="0"/>
              <a:t>()</a:t>
            </a:r>
          </a:p>
          <a:p>
            <a:r>
              <a:rPr lang="es-ES" dirty="0"/>
              <a:t>Revisar: https://pastebin.com/Qv4mYLJt</a:t>
            </a:r>
            <a:endParaRPr lang="es-CL" dirty="0"/>
          </a:p>
        </p:txBody>
      </p:sp>
    </p:spTree>
    <p:extLst>
      <p:ext uri="{BB962C8B-B14F-4D97-AF65-F5344CB8AC3E}">
        <p14:creationId xmlns:p14="http://schemas.microsoft.com/office/powerpoint/2010/main" val="6746593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Ejercicio 01</a:t>
            </a:r>
            <a:endParaRPr lang="es-CL" dirty="0"/>
          </a:p>
        </p:txBody>
      </p:sp>
      <p:sp>
        <p:nvSpPr>
          <p:cNvPr id="3" name="Marcador de contenido 2"/>
          <p:cNvSpPr>
            <a:spLocks noGrp="1"/>
          </p:cNvSpPr>
          <p:nvPr>
            <p:ph idx="1"/>
          </p:nvPr>
        </p:nvSpPr>
        <p:spPr/>
        <p:txBody>
          <a:bodyPr/>
          <a:lstStyle/>
          <a:p>
            <a:r>
              <a:rPr lang="es-CL" dirty="0" smtClean="0"/>
              <a:t>Utilizando </a:t>
            </a:r>
            <a:r>
              <a:rPr lang="es-CL" dirty="0" err="1" smtClean="0"/>
              <a:t>Jupyter</a:t>
            </a:r>
            <a:endParaRPr lang="es-CL" dirty="0" smtClean="0"/>
          </a:p>
          <a:p>
            <a:r>
              <a:rPr lang="es-ES" dirty="0"/>
              <a:t>Consulta el tamaño, número de filas y el número y nombre de las columnas del conjunto de datos </a:t>
            </a:r>
            <a:r>
              <a:rPr lang="es-ES" dirty="0" err="1" smtClean="0"/>
              <a:t>airquality</a:t>
            </a:r>
            <a:r>
              <a:rPr lang="es-ES" dirty="0" smtClean="0"/>
              <a:t>.</a:t>
            </a:r>
          </a:p>
          <a:p>
            <a:r>
              <a:rPr lang="es-ES" dirty="0" smtClean="0"/>
              <a:t>Muestre </a:t>
            </a:r>
            <a:r>
              <a:rPr lang="es-ES" dirty="0"/>
              <a:t>también las primeras </a:t>
            </a:r>
            <a:r>
              <a:rPr lang="es-ES" dirty="0" smtClean="0"/>
              <a:t>10 </a:t>
            </a:r>
            <a:r>
              <a:rPr lang="es-ES" dirty="0"/>
              <a:t>filas de esa tabla</a:t>
            </a:r>
            <a:r>
              <a:rPr lang="es-ES" dirty="0" smtClean="0"/>
              <a:t>.</a:t>
            </a:r>
          </a:p>
          <a:p>
            <a:r>
              <a:rPr lang="es-ES" dirty="0" smtClean="0"/>
              <a:t>Examine </a:t>
            </a:r>
            <a:r>
              <a:rPr lang="es-ES" dirty="0"/>
              <a:t>el conjunto de datos </a:t>
            </a:r>
            <a:r>
              <a:rPr lang="es-ES" dirty="0" err="1" smtClean="0"/>
              <a:t>attenu</a:t>
            </a:r>
            <a:r>
              <a:rPr lang="es-ES" dirty="0" smtClean="0"/>
              <a:t>.</a:t>
            </a:r>
          </a:p>
          <a:p>
            <a:r>
              <a:rPr lang="es-ES" dirty="0" smtClean="0"/>
              <a:t>Consulte </a:t>
            </a:r>
            <a:r>
              <a:rPr lang="es-ES" dirty="0"/>
              <a:t>su ayuda (?</a:t>
            </a:r>
            <a:r>
              <a:rPr lang="es-ES" dirty="0" err="1"/>
              <a:t>attenu</a:t>
            </a:r>
            <a:r>
              <a:rPr lang="es-ES" dirty="0"/>
              <a:t>) para averiguar qué tipo de información </a:t>
            </a:r>
            <a:r>
              <a:rPr lang="es-ES" dirty="0" smtClean="0"/>
              <a:t>contiene.</a:t>
            </a:r>
          </a:p>
          <a:p>
            <a:r>
              <a:rPr lang="es-ES" dirty="0" smtClean="0"/>
              <a:t>Finalmente</a:t>
            </a:r>
            <a:r>
              <a:rPr lang="es-ES" dirty="0"/>
              <a:t>, </a:t>
            </a:r>
            <a:r>
              <a:rPr lang="es-ES" dirty="0" smtClean="0"/>
              <a:t>use </a:t>
            </a:r>
            <a:r>
              <a:rPr lang="es-ES" dirty="0" err="1"/>
              <a:t>summary</a:t>
            </a:r>
            <a:r>
              <a:rPr lang="es-ES" dirty="0"/>
              <a:t> para ver si contiene algún nulo en alguna columna.</a:t>
            </a:r>
            <a:endParaRPr lang="es-CL" dirty="0"/>
          </a:p>
        </p:txBody>
      </p:sp>
    </p:spTree>
    <p:extLst>
      <p:ext uri="{BB962C8B-B14F-4D97-AF65-F5344CB8AC3E}">
        <p14:creationId xmlns:p14="http://schemas.microsoft.com/office/powerpoint/2010/main" val="10733728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Selección de filas y columnas</a:t>
            </a:r>
            <a:endParaRPr lang="es-CL" dirty="0"/>
          </a:p>
        </p:txBody>
      </p:sp>
      <p:sp>
        <p:nvSpPr>
          <p:cNvPr id="3" name="Marcador de contenido 2"/>
          <p:cNvSpPr>
            <a:spLocks noGrp="1"/>
          </p:cNvSpPr>
          <p:nvPr>
            <p:ph sz="half" idx="1"/>
          </p:nvPr>
        </p:nvSpPr>
        <p:spPr/>
        <p:txBody>
          <a:bodyPr/>
          <a:lstStyle/>
          <a:p>
            <a:r>
              <a:rPr lang="es-ES" dirty="0"/>
              <a:t>Igual que ocurre con una hoja de cálculo, frecuentemente queremos trabajar con un subconjunto de la tabla, i.e., con una selección de filas y/o </a:t>
            </a:r>
            <a:r>
              <a:rPr lang="es-ES" dirty="0" smtClean="0"/>
              <a:t>columnas.</a:t>
            </a:r>
          </a:p>
          <a:p>
            <a:r>
              <a:rPr lang="es-ES" dirty="0" smtClean="0"/>
              <a:t>Para </a:t>
            </a:r>
            <a:r>
              <a:rPr lang="es-ES" dirty="0"/>
              <a:t>este tipo de selecciones se usa el corchete</a:t>
            </a:r>
            <a:endParaRPr lang="es-CL" dirty="0"/>
          </a:p>
        </p:txBody>
      </p:sp>
      <p:pic>
        <p:nvPicPr>
          <p:cNvPr id="5" name="Marcador de contenido 4"/>
          <p:cNvPicPr>
            <a:picLocks noGrp="1" noChangeAspect="1"/>
          </p:cNvPicPr>
          <p:nvPr>
            <p:ph sz="half" idx="2"/>
          </p:nvPr>
        </p:nvPicPr>
        <p:blipFill>
          <a:blip r:embed="rId2"/>
          <a:stretch>
            <a:fillRect/>
          </a:stretch>
        </p:blipFill>
        <p:spPr>
          <a:xfrm>
            <a:off x="6190456" y="3090930"/>
            <a:ext cx="5379469" cy="1541395"/>
          </a:xfrm>
          <a:prstGeom prst="rect">
            <a:avLst/>
          </a:prstGeom>
        </p:spPr>
      </p:pic>
    </p:spTree>
    <p:extLst>
      <p:ext uri="{BB962C8B-B14F-4D97-AF65-F5344CB8AC3E}">
        <p14:creationId xmlns:p14="http://schemas.microsoft.com/office/powerpoint/2010/main" val="1714216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Selección de filas y columnas</a:t>
            </a:r>
            <a:endParaRPr lang="es-CL" dirty="0"/>
          </a:p>
        </p:txBody>
      </p:sp>
      <p:sp>
        <p:nvSpPr>
          <p:cNvPr id="3" name="Marcador de contenido 2"/>
          <p:cNvSpPr>
            <a:spLocks noGrp="1"/>
          </p:cNvSpPr>
          <p:nvPr>
            <p:ph sz="half" idx="1"/>
          </p:nvPr>
        </p:nvSpPr>
        <p:spPr/>
        <p:txBody>
          <a:bodyPr/>
          <a:lstStyle/>
          <a:p>
            <a:r>
              <a:rPr lang="es-ES" dirty="0"/>
              <a:t>Cuando se opera con </a:t>
            </a:r>
            <a:r>
              <a:rPr lang="es-ES" dirty="0" smtClean="0"/>
              <a:t>tablas </a:t>
            </a:r>
            <a:r>
              <a:rPr lang="es-ES" dirty="0"/>
              <a:t>los corchetes </a:t>
            </a:r>
            <a:r>
              <a:rPr lang="es-ES" dirty="0" smtClean="0"/>
              <a:t>siempre </a:t>
            </a:r>
            <a:r>
              <a:rPr lang="es-ES" dirty="0"/>
              <a:t>tienen dos partes separadas por una coma</a:t>
            </a:r>
            <a:r>
              <a:rPr lang="es-ES" dirty="0" smtClean="0"/>
              <a:t>:</a:t>
            </a:r>
            <a:endParaRPr lang="es-ES" dirty="0"/>
          </a:p>
          <a:p>
            <a:r>
              <a:rPr lang="es-ES" dirty="0"/>
              <a:t>la que la precede se refiere a las </a:t>
            </a:r>
            <a:r>
              <a:rPr lang="es-ES" dirty="0" smtClean="0"/>
              <a:t>filas la </a:t>
            </a:r>
            <a:r>
              <a:rPr lang="es-ES" dirty="0"/>
              <a:t>que la sigue, a las columnas.</a:t>
            </a:r>
          </a:p>
          <a:p>
            <a:r>
              <a:rPr lang="es-ES" dirty="0" smtClean="0"/>
              <a:t>Los corchetes </a:t>
            </a:r>
            <a:r>
              <a:rPr lang="es-ES" dirty="0"/>
              <a:t>admiten también el nombres de </a:t>
            </a:r>
            <a:r>
              <a:rPr lang="es-ES" dirty="0" smtClean="0"/>
              <a:t>columnas.</a:t>
            </a:r>
            <a:endParaRPr lang="es-CL" dirty="0"/>
          </a:p>
        </p:txBody>
      </p:sp>
      <p:pic>
        <p:nvPicPr>
          <p:cNvPr id="6" name="Marcador de contenido 5"/>
          <p:cNvPicPr>
            <a:picLocks noGrp="1" noChangeAspect="1"/>
          </p:cNvPicPr>
          <p:nvPr>
            <p:ph sz="half" idx="2"/>
          </p:nvPr>
        </p:nvPicPr>
        <p:blipFill>
          <a:blip r:embed="rId2"/>
          <a:stretch>
            <a:fillRect/>
          </a:stretch>
        </p:blipFill>
        <p:spPr>
          <a:xfrm>
            <a:off x="6457759" y="2859110"/>
            <a:ext cx="4727361" cy="1272751"/>
          </a:xfrm>
          <a:prstGeom prst="rect">
            <a:avLst/>
          </a:prstGeom>
        </p:spPr>
      </p:pic>
    </p:spTree>
    <p:extLst>
      <p:ext uri="{BB962C8B-B14F-4D97-AF65-F5344CB8AC3E}">
        <p14:creationId xmlns:p14="http://schemas.microsoft.com/office/powerpoint/2010/main" val="39222450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Selección de filas y columnas</a:t>
            </a:r>
            <a:endParaRPr lang="es-CL" dirty="0"/>
          </a:p>
        </p:txBody>
      </p:sp>
      <p:sp>
        <p:nvSpPr>
          <p:cNvPr id="3" name="Marcador de contenido 2"/>
          <p:cNvSpPr>
            <a:spLocks noGrp="1"/>
          </p:cNvSpPr>
          <p:nvPr>
            <p:ph sz="half" idx="1"/>
          </p:nvPr>
        </p:nvSpPr>
        <p:spPr/>
        <p:txBody>
          <a:bodyPr/>
          <a:lstStyle/>
          <a:p>
            <a:r>
              <a:rPr lang="es-ES" dirty="0" smtClean="0"/>
              <a:t>R </a:t>
            </a:r>
            <a:r>
              <a:rPr lang="es-ES" dirty="0"/>
              <a:t>proporciona una manera más breve de </a:t>
            </a:r>
            <a:r>
              <a:rPr lang="es-ES" dirty="0" smtClean="0"/>
              <a:t>traer el contenido de una tabla.</a:t>
            </a:r>
            <a:endParaRPr lang="es-CL" dirty="0"/>
          </a:p>
        </p:txBody>
      </p:sp>
      <p:pic>
        <p:nvPicPr>
          <p:cNvPr id="5" name="Marcador de contenido 4"/>
          <p:cNvPicPr>
            <a:picLocks noGrp="1" noChangeAspect="1"/>
          </p:cNvPicPr>
          <p:nvPr>
            <p:ph sz="half" idx="2"/>
          </p:nvPr>
        </p:nvPicPr>
        <p:blipFill>
          <a:blip r:embed="rId2"/>
          <a:stretch>
            <a:fillRect/>
          </a:stretch>
        </p:blipFill>
        <p:spPr>
          <a:xfrm>
            <a:off x="6501695" y="3000778"/>
            <a:ext cx="4274687" cy="1153487"/>
          </a:xfrm>
          <a:prstGeom prst="rect">
            <a:avLst/>
          </a:prstGeom>
        </p:spPr>
      </p:pic>
    </p:spTree>
    <p:extLst>
      <p:ext uri="{BB962C8B-B14F-4D97-AF65-F5344CB8AC3E}">
        <p14:creationId xmlns:p14="http://schemas.microsoft.com/office/powerpoint/2010/main" val="40621671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Selección de filas y columnas</a:t>
            </a:r>
            <a:endParaRPr lang="es-CL" dirty="0"/>
          </a:p>
        </p:txBody>
      </p:sp>
      <p:sp>
        <p:nvSpPr>
          <p:cNvPr id="3" name="Marcador de contenido 2"/>
          <p:cNvSpPr>
            <a:spLocks noGrp="1"/>
          </p:cNvSpPr>
          <p:nvPr>
            <p:ph sz="half" idx="1"/>
          </p:nvPr>
        </p:nvSpPr>
        <p:spPr/>
        <p:txBody>
          <a:bodyPr/>
          <a:lstStyle/>
          <a:p>
            <a:r>
              <a:rPr lang="es-ES" dirty="0"/>
              <a:t>El corchete también permite seleccionar filas mediante condiciones </a:t>
            </a:r>
            <a:r>
              <a:rPr lang="es-ES" dirty="0" smtClean="0"/>
              <a:t>lógicas.</a:t>
            </a:r>
            <a:endParaRPr lang="es-CL" dirty="0"/>
          </a:p>
        </p:txBody>
      </p:sp>
      <p:pic>
        <p:nvPicPr>
          <p:cNvPr id="6" name="Marcador de contenido 5"/>
          <p:cNvPicPr>
            <a:picLocks noGrp="1" noChangeAspect="1"/>
          </p:cNvPicPr>
          <p:nvPr>
            <p:ph sz="half" idx="2"/>
          </p:nvPr>
        </p:nvPicPr>
        <p:blipFill>
          <a:blip r:embed="rId2"/>
          <a:stretch>
            <a:fillRect/>
          </a:stretch>
        </p:blipFill>
        <p:spPr>
          <a:xfrm>
            <a:off x="6595268" y="3567449"/>
            <a:ext cx="4189331" cy="841040"/>
          </a:xfrm>
          <a:prstGeom prst="rect">
            <a:avLst/>
          </a:prstGeom>
        </p:spPr>
      </p:pic>
    </p:spTree>
    <p:extLst>
      <p:ext uri="{BB962C8B-B14F-4D97-AF65-F5344CB8AC3E}">
        <p14:creationId xmlns:p14="http://schemas.microsoft.com/office/powerpoint/2010/main" val="708558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Selección de filas y columnas</a:t>
            </a:r>
            <a:endParaRPr lang="es-CL" dirty="0"/>
          </a:p>
        </p:txBody>
      </p:sp>
      <p:sp>
        <p:nvSpPr>
          <p:cNvPr id="5" name="Marcador de contenido 4"/>
          <p:cNvSpPr>
            <a:spLocks noGrp="1"/>
          </p:cNvSpPr>
          <p:nvPr>
            <p:ph idx="1"/>
          </p:nvPr>
        </p:nvSpPr>
        <p:spPr/>
        <p:txBody>
          <a:bodyPr/>
          <a:lstStyle/>
          <a:p>
            <a:r>
              <a:rPr lang="es-CL" dirty="0" smtClean="0"/>
              <a:t>En R el operador AND es &amp;</a:t>
            </a:r>
            <a:endParaRPr lang="es-CL" dirty="0"/>
          </a:p>
        </p:txBody>
      </p:sp>
    </p:spTree>
    <p:extLst>
      <p:ext uri="{BB962C8B-B14F-4D97-AF65-F5344CB8AC3E}">
        <p14:creationId xmlns:p14="http://schemas.microsoft.com/office/powerpoint/2010/main" val="3517531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Creación, eliminación </a:t>
            </a:r>
            <a:r>
              <a:rPr lang="es-ES" dirty="0"/>
              <a:t>de tablas y columnas</a:t>
            </a:r>
            <a:endParaRPr lang="es-CL" dirty="0"/>
          </a:p>
        </p:txBody>
      </p:sp>
      <p:sp>
        <p:nvSpPr>
          <p:cNvPr id="5" name="Marcador de contenido 4"/>
          <p:cNvSpPr>
            <a:spLocks noGrp="1"/>
          </p:cNvSpPr>
          <p:nvPr>
            <p:ph idx="1"/>
          </p:nvPr>
        </p:nvSpPr>
        <p:spPr/>
        <p:txBody>
          <a:bodyPr/>
          <a:lstStyle/>
          <a:p>
            <a:r>
              <a:rPr lang="es-ES" dirty="0"/>
              <a:t>Es posible crear otras tablas a partir de una dada mediante el operador &lt;-, que sirve para </a:t>
            </a:r>
            <a:r>
              <a:rPr lang="es-ES" dirty="0" smtClean="0"/>
              <a:t>asignar</a:t>
            </a:r>
          </a:p>
          <a:p>
            <a:endParaRPr lang="es-ES" dirty="0" smtClean="0"/>
          </a:p>
          <a:p>
            <a:pPr marL="0" indent="0">
              <a:buNone/>
            </a:pPr>
            <a:r>
              <a:rPr lang="es-ES" dirty="0" err="1"/>
              <a:t>mi.iris</a:t>
            </a:r>
            <a:r>
              <a:rPr lang="es-ES" dirty="0"/>
              <a:t> &lt;- iris  # </a:t>
            </a:r>
            <a:r>
              <a:rPr lang="es-ES" dirty="0" err="1"/>
              <a:t>mi.iris</a:t>
            </a:r>
            <a:r>
              <a:rPr lang="es-ES" dirty="0"/>
              <a:t> es una copia de iris</a:t>
            </a:r>
          </a:p>
          <a:p>
            <a:pPr marL="0" indent="0">
              <a:buNone/>
            </a:pPr>
            <a:r>
              <a:rPr lang="es-ES" dirty="0"/>
              <a:t>head(</a:t>
            </a:r>
            <a:r>
              <a:rPr lang="es-ES" dirty="0" err="1"/>
              <a:t>mi.iris</a:t>
            </a:r>
            <a:r>
              <a:rPr lang="es-ES" dirty="0" smtClean="0"/>
              <a:t>)</a:t>
            </a:r>
          </a:p>
        </p:txBody>
      </p:sp>
    </p:spTree>
    <p:extLst>
      <p:ext uri="{BB962C8B-B14F-4D97-AF65-F5344CB8AC3E}">
        <p14:creationId xmlns:p14="http://schemas.microsoft.com/office/powerpoint/2010/main" val="34339459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Creación, eliminación </a:t>
            </a:r>
            <a:r>
              <a:rPr lang="es-ES" dirty="0"/>
              <a:t>de tablas y columnas</a:t>
            </a:r>
            <a:endParaRPr lang="es-CL" dirty="0"/>
          </a:p>
        </p:txBody>
      </p:sp>
      <p:sp>
        <p:nvSpPr>
          <p:cNvPr id="5" name="Marcador de contenido 4"/>
          <p:cNvSpPr>
            <a:spLocks noGrp="1"/>
          </p:cNvSpPr>
          <p:nvPr>
            <p:ph idx="1"/>
          </p:nvPr>
        </p:nvSpPr>
        <p:spPr/>
        <p:txBody>
          <a:bodyPr/>
          <a:lstStyle/>
          <a:p>
            <a:r>
              <a:rPr lang="es-ES" dirty="0"/>
              <a:t>Añadir una columna a una tabla es como crear una nueva variable dentro de </a:t>
            </a:r>
            <a:r>
              <a:rPr lang="es-ES" dirty="0" smtClean="0"/>
              <a:t>ella.</a:t>
            </a:r>
          </a:p>
          <a:p>
            <a:r>
              <a:rPr lang="es-ES" dirty="0" smtClean="0"/>
              <a:t>Una </a:t>
            </a:r>
            <a:r>
              <a:rPr lang="es-ES" dirty="0"/>
              <a:t>manera de eliminarlas es asignarle el valor NULL.</a:t>
            </a:r>
            <a:endParaRPr lang="es-ES" dirty="0" smtClean="0"/>
          </a:p>
        </p:txBody>
      </p:sp>
      <p:pic>
        <p:nvPicPr>
          <p:cNvPr id="3" name="Imagen 2"/>
          <p:cNvPicPr>
            <a:picLocks noChangeAspect="1"/>
          </p:cNvPicPr>
          <p:nvPr/>
        </p:nvPicPr>
        <p:blipFill>
          <a:blip r:embed="rId2"/>
          <a:stretch>
            <a:fillRect/>
          </a:stretch>
        </p:blipFill>
        <p:spPr>
          <a:xfrm>
            <a:off x="2511380" y="4116978"/>
            <a:ext cx="6957006" cy="1342100"/>
          </a:xfrm>
          <a:prstGeom prst="rect">
            <a:avLst/>
          </a:prstGeom>
        </p:spPr>
      </p:pic>
    </p:spTree>
    <p:extLst>
      <p:ext uri="{BB962C8B-B14F-4D97-AF65-F5344CB8AC3E}">
        <p14:creationId xmlns:p14="http://schemas.microsoft.com/office/powerpoint/2010/main" val="11717258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Ejercicio 02</a:t>
            </a:r>
            <a:endParaRPr lang="es-CL" dirty="0"/>
          </a:p>
        </p:txBody>
      </p:sp>
      <p:sp>
        <p:nvSpPr>
          <p:cNvPr id="5" name="Marcador de contenido 4"/>
          <p:cNvSpPr>
            <a:spLocks noGrp="1"/>
          </p:cNvSpPr>
          <p:nvPr>
            <p:ph idx="1"/>
          </p:nvPr>
        </p:nvSpPr>
        <p:spPr/>
        <p:txBody>
          <a:bodyPr/>
          <a:lstStyle/>
          <a:p>
            <a:r>
              <a:rPr lang="es-ES" dirty="0"/>
              <a:t>Usando el conjunto de datos CO2, </a:t>
            </a:r>
            <a:r>
              <a:rPr lang="es-ES" dirty="0" smtClean="0"/>
              <a:t>seleccione </a:t>
            </a:r>
            <a:r>
              <a:rPr lang="es-ES" dirty="0"/>
              <a:t>los valores en los que el tratamiento sea </a:t>
            </a:r>
            <a:r>
              <a:rPr lang="es-ES" dirty="0" err="1" smtClean="0"/>
              <a:t>chilled</a:t>
            </a:r>
            <a:r>
              <a:rPr lang="es-ES" dirty="0" smtClean="0"/>
              <a:t> </a:t>
            </a:r>
            <a:r>
              <a:rPr lang="es-ES" dirty="0"/>
              <a:t>y el valor de </a:t>
            </a:r>
            <a:r>
              <a:rPr lang="es-ES" dirty="0" err="1" smtClean="0"/>
              <a:t>uptake</a:t>
            </a:r>
            <a:r>
              <a:rPr lang="es-ES" dirty="0" smtClean="0"/>
              <a:t> </a:t>
            </a:r>
            <a:r>
              <a:rPr lang="es-ES" dirty="0"/>
              <a:t>mayor que </a:t>
            </a:r>
            <a:r>
              <a:rPr lang="es-ES" dirty="0" smtClean="0"/>
              <a:t>15.</a:t>
            </a:r>
          </a:p>
        </p:txBody>
      </p:sp>
    </p:spTree>
    <p:extLst>
      <p:ext uri="{BB962C8B-B14F-4D97-AF65-F5344CB8AC3E}">
        <p14:creationId xmlns:p14="http://schemas.microsoft.com/office/powerpoint/2010/main" val="35588299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Solución ejercicio 02</a:t>
            </a:r>
            <a:endParaRPr lang="es-CL" dirty="0"/>
          </a:p>
        </p:txBody>
      </p:sp>
      <p:sp>
        <p:nvSpPr>
          <p:cNvPr id="3" name="Marcador de contenido 2"/>
          <p:cNvSpPr>
            <a:spLocks noGrp="1"/>
          </p:cNvSpPr>
          <p:nvPr>
            <p:ph idx="1"/>
          </p:nvPr>
        </p:nvSpPr>
        <p:spPr/>
        <p:txBody>
          <a:bodyPr>
            <a:normAutofit/>
          </a:bodyPr>
          <a:lstStyle/>
          <a:p>
            <a:pPr marL="0" indent="0">
              <a:buNone/>
            </a:pPr>
            <a:r>
              <a:rPr lang="es-CL" sz="2400" dirty="0"/>
              <a:t>CO2[CO2$uptake &gt; 15 &amp; CO2$Treatment == "</a:t>
            </a:r>
            <a:r>
              <a:rPr lang="es-CL" sz="2400" dirty="0" err="1"/>
              <a:t>chilled</a:t>
            </a:r>
            <a:r>
              <a:rPr lang="es-CL" sz="2400" dirty="0"/>
              <a:t>",]</a:t>
            </a:r>
          </a:p>
        </p:txBody>
      </p:sp>
    </p:spTree>
    <p:extLst>
      <p:ext uri="{BB962C8B-B14F-4D97-AF65-F5344CB8AC3E}">
        <p14:creationId xmlns:p14="http://schemas.microsoft.com/office/powerpoint/2010/main" val="12721198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Ordenación</a:t>
            </a:r>
            <a:endParaRPr lang="es-CL" dirty="0"/>
          </a:p>
        </p:txBody>
      </p:sp>
      <p:sp>
        <p:nvSpPr>
          <p:cNvPr id="3" name="Marcador de contenido 2"/>
          <p:cNvSpPr>
            <a:spLocks noGrp="1"/>
          </p:cNvSpPr>
          <p:nvPr>
            <p:ph idx="1"/>
          </p:nvPr>
        </p:nvSpPr>
        <p:spPr/>
        <p:txBody>
          <a:bodyPr>
            <a:normAutofit/>
          </a:bodyPr>
          <a:lstStyle/>
          <a:p>
            <a:r>
              <a:rPr lang="es-ES" dirty="0"/>
              <a:t>La reordenación de las filas de una tabla es fundamental para analizar su contenido </a:t>
            </a:r>
            <a:r>
              <a:rPr lang="es-ES" dirty="0" smtClean="0"/>
              <a:t>y frecuentemente para </a:t>
            </a:r>
            <a:r>
              <a:rPr lang="es-ES" dirty="0"/>
              <a:t>detectar problemas en los </a:t>
            </a:r>
            <a:r>
              <a:rPr lang="es-ES" dirty="0" smtClean="0"/>
              <a:t>datos.</a:t>
            </a:r>
          </a:p>
          <a:p>
            <a:r>
              <a:rPr lang="es-ES" dirty="0" smtClean="0"/>
              <a:t>Por ejemplo al </a:t>
            </a:r>
            <a:r>
              <a:rPr lang="es-ES" dirty="0"/>
              <a:t>ordenar los sujetos por edad y </a:t>
            </a:r>
            <a:r>
              <a:rPr lang="es-ES" dirty="0" smtClean="0"/>
              <a:t>revisar las </a:t>
            </a:r>
            <a:r>
              <a:rPr lang="es-ES" dirty="0"/>
              <a:t>primeras filas podemos identificar aquellos </a:t>
            </a:r>
            <a:r>
              <a:rPr lang="es-ES" dirty="0" smtClean="0"/>
              <a:t>que </a:t>
            </a:r>
            <a:r>
              <a:rPr lang="es-ES" dirty="0"/>
              <a:t>por </a:t>
            </a:r>
            <a:r>
              <a:rPr lang="es-ES" dirty="0" smtClean="0"/>
              <a:t>error </a:t>
            </a:r>
            <a:r>
              <a:rPr lang="es-ES" dirty="0"/>
              <a:t>tienen asociadas edades negativas</a:t>
            </a:r>
            <a:r>
              <a:rPr lang="es-ES" dirty="0" smtClean="0"/>
              <a:t>.</a:t>
            </a:r>
          </a:p>
          <a:p>
            <a:r>
              <a:rPr lang="es-ES" dirty="0"/>
              <a:t>R no dispone de ninguna función de serie para ordenar por una columna (o varias</a:t>
            </a:r>
            <a:r>
              <a:rPr lang="es-ES" dirty="0" smtClean="0"/>
              <a:t>).</a:t>
            </a:r>
          </a:p>
          <a:p>
            <a:r>
              <a:rPr lang="es-ES" dirty="0" smtClean="0"/>
              <a:t>En </a:t>
            </a:r>
            <a:r>
              <a:rPr lang="es-ES" dirty="0"/>
              <a:t>R, ordenar es seleccionar </a:t>
            </a:r>
            <a:r>
              <a:rPr lang="es-ES" dirty="0" smtClean="0"/>
              <a:t>ordenadamente.</a:t>
            </a:r>
            <a:endParaRPr lang="es-CL" dirty="0"/>
          </a:p>
        </p:txBody>
      </p:sp>
    </p:spTree>
    <p:extLst>
      <p:ext uri="{BB962C8B-B14F-4D97-AF65-F5344CB8AC3E}">
        <p14:creationId xmlns:p14="http://schemas.microsoft.com/office/powerpoint/2010/main" val="38358524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Ordenación</a:t>
            </a:r>
            <a:endParaRPr lang="es-CL" dirty="0"/>
          </a:p>
        </p:txBody>
      </p:sp>
      <p:pic>
        <p:nvPicPr>
          <p:cNvPr id="4" name="Marcador de contenido 3"/>
          <p:cNvPicPr>
            <a:picLocks noGrp="1" noChangeAspect="1"/>
          </p:cNvPicPr>
          <p:nvPr>
            <p:ph idx="1"/>
          </p:nvPr>
        </p:nvPicPr>
        <p:blipFill>
          <a:blip r:embed="rId2"/>
          <a:stretch>
            <a:fillRect/>
          </a:stretch>
        </p:blipFill>
        <p:spPr>
          <a:xfrm>
            <a:off x="1973009" y="3258355"/>
            <a:ext cx="7732900" cy="552350"/>
          </a:xfrm>
          <a:prstGeom prst="rect">
            <a:avLst/>
          </a:prstGeom>
        </p:spPr>
      </p:pic>
    </p:spTree>
    <p:extLst>
      <p:ext uri="{BB962C8B-B14F-4D97-AF65-F5344CB8AC3E}">
        <p14:creationId xmlns:p14="http://schemas.microsoft.com/office/powerpoint/2010/main" val="32190113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Ordenación</a:t>
            </a:r>
            <a:endParaRPr lang="es-CL" dirty="0"/>
          </a:p>
        </p:txBody>
      </p:sp>
      <p:sp>
        <p:nvSpPr>
          <p:cNvPr id="3" name="Marcador de contenido 2"/>
          <p:cNvSpPr>
            <a:spLocks noGrp="1"/>
          </p:cNvSpPr>
          <p:nvPr>
            <p:ph idx="1"/>
          </p:nvPr>
        </p:nvSpPr>
        <p:spPr/>
        <p:txBody>
          <a:bodyPr/>
          <a:lstStyle/>
          <a:p>
            <a:r>
              <a:rPr lang="es-ES" dirty="0"/>
              <a:t>La función </a:t>
            </a:r>
            <a:r>
              <a:rPr lang="es-ES" dirty="0" err="1"/>
              <a:t>order</a:t>
            </a:r>
            <a:r>
              <a:rPr lang="es-ES" dirty="0"/>
              <a:t> aplicada a un vector devuelve otro vector de la misma longitud que tiene el valor 1 en el primer elemento del vector, 2 en el segundo, etc.</a:t>
            </a:r>
            <a:endParaRPr lang="es-CL" dirty="0"/>
          </a:p>
        </p:txBody>
      </p:sp>
    </p:spTree>
    <p:extLst>
      <p:ext uri="{BB962C8B-B14F-4D97-AF65-F5344CB8AC3E}">
        <p14:creationId xmlns:p14="http://schemas.microsoft.com/office/powerpoint/2010/main" val="554262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Trabajo con archivos</a:t>
            </a:r>
            <a:endParaRPr lang="es-CL" dirty="0"/>
          </a:p>
        </p:txBody>
      </p:sp>
      <p:sp>
        <p:nvSpPr>
          <p:cNvPr id="3" name="Marcador de contenido 2"/>
          <p:cNvSpPr>
            <a:spLocks noGrp="1"/>
          </p:cNvSpPr>
          <p:nvPr>
            <p:ph idx="1"/>
          </p:nvPr>
        </p:nvSpPr>
        <p:spPr/>
        <p:txBody>
          <a:bodyPr/>
          <a:lstStyle/>
          <a:p>
            <a:r>
              <a:rPr lang="es-ES" dirty="0" err="1"/>
              <a:t>getwd</a:t>
            </a:r>
            <a:r>
              <a:rPr lang="es-ES" dirty="0"/>
              <a:t>()         </a:t>
            </a:r>
          </a:p>
          <a:p>
            <a:r>
              <a:rPr lang="es-ES" dirty="0" err="1"/>
              <a:t>setwd</a:t>
            </a:r>
            <a:r>
              <a:rPr lang="es-ES" dirty="0"/>
              <a:t>("..")       </a:t>
            </a:r>
            <a:r>
              <a:rPr lang="es-ES" dirty="0" smtClean="0"/>
              <a:t>#### </a:t>
            </a:r>
            <a:r>
              <a:rPr lang="es-ES" dirty="0"/>
              <a:t>"sube" al directorio padre del actual</a:t>
            </a:r>
          </a:p>
          <a:p>
            <a:r>
              <a:rPr lang="es-ES" dirty="0" err="1"/>
              <a:t>setwd</a:t>
            </a:r>
            <a:r>
              <a:rPr lang="es-ES" dirty="0"/>
              <a:t>("</a:t>
            </a:r>
            <a:r>
              <a:rPr lang="es-ES" dirty="0" err="1"/>
              <a:t>mi_proyecto</a:t>
            </a:r>
            <a:r>
              <a:rPr lang="es-ES" dirty="0"/>
              <a:t>/</a:t>
            </a:r>
            <a:r>
              <a:rPr lang="es-ES" dirty="0" err="1"/>
              <a:t>src</a:t>
            </a:r>
            <a:r>
              <a:rPr lang="es-ES" dirty="0"/>
              <a:t>")      </a:t>
            </a:r>
            <a:r>
              <a:rPr lang="es-ES" dirty="0" smtClean="0"/>
              <a:t>#### </a:t>
            </a:r>
            <a:r>
              <a:rPr lang="es-ES" dirty="0"/>
              <a:t>ruta relativa</a:t>
            </a:r>
          </a:p>
          <a:p>
            <a:r>
              <a:rPr lang="es-ES" dirty="0" err="1"/>
              <a:t>setwd</a:t>
            </a:r>
            <a:r>
              <a:rPr lang="es-ES" dirty="0"/>
              <a:t>("</a:t>
            </a:r>
            <a:r>
              <a:rPr lang="es-ES" dirty="0" smtClean="0"/>
              <a:t>c:\\users\\yo\\proyecto</a:t>
            </a:r>
            <a:r>
              <a:rPr lang="es-ES" dirty="0"/>
              <a:t>") </a:t>
            </a:r>
            <a:r>
              <a:rPr lang="es-ES" dirty="0" smtClean="0"/>
              <a:t>#### </a:t>
            </a:r>
            <a:r>
              <a:rPr lang="es-ES" dirty="0"/>
              <a:t>ruta absoluta en Windows</a:t>
            </a:r>
          </a:p>
          <a:p>
            <a:r>
              <a:rPr lang="es-ES" dirty="0" err="1"/>
              <a:t>setwd</a:t>
            </a:r>
            <a:r>
              <a:rPr lang="es-ES" dirty="0"/>
              <a:t>("/home/yo/proyecto")    </a:t>
            </a:r>
            <a:r>
              <a:rPr lang="es-ES" dirty="0" smtClean="0"/>
              <a:t>#### </a:t>
            </a:r>
            <a:r>
              <a:rPr lang="es-ES" dirty="0"/>
              <a:t>ruta absoluta en Linux y otros</a:t>
            </a:r>
          </a:p>
          <a:p>
            <a:r>
              <a:rPr lang="es-ES" dirty="0" err="1"/>
              <a:t>dir</a:t>
            </a:r>
            <a:r>
              <a:rPr lang="es-ES" dirty="0"/>
              <a:t>()             </a:t>
            </a:r>
            <a:r>
              <a:rPr lang="es-ES" dirty="0" smtClean="0"/>
              <a:t>#### </a:t>
            </a:r>
            <a:r>
              <a:rPr lang="es-ES" dirty="0"/>
              <a:t>contenidos del directorio "de trabajo"</a:t>
            </a:r>
            <a:endParaRPr lang="es-CL" dirty="0"/>
          </a:p>
        </p:txBody>
      </p:sp>
    </p:spTree>
    <p:extLst>
      <p:ext uri="{BB962C8B-B14F-4D97-AF65-F5344CB8AC3E}">
        <p14:creationId xmlns:p14="http://schemas.microsoft.com/office/powerpoint/2010/main" val="41486860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Trabajo con archivos</a:t>
            </a:r>
            <a:endParaRPr lang="es-CL" dirty="0"/>
          </a:p>
        </p:txBody>
      </p:sp>
      <p:sp>
        <p:nvSpPr>
          <p:cNvPr id="3" name="Marcador de contenido 2"/>
          <p:cNvSpPr>
            <a:spLocks noGrp="1"/>
          </p:cNvSpPr>
          <p:nvPr>
            <p:ph idx="1"/>
          </p:nvPr>
        </p:nvSpPr>
        <p:spPr/>
        <p:txBody>
          <a:bodyPr/>
          <a:lstStyle/>
          <a:p>
            <a:r>
              <a:rPr lang="es-ES" dirty="0" smtClean="0"/>
              <a:t>Para leer archivos se utiliza la función </a:t>
            </a:r>
            <a:r>
              <a:rPr lang="es-ES" b="1" dirty="0" err="1" smtClean="0"/>
              <a:t>read.table</a:t>
            </a:r>
            <a:r>
              <a:rPr lang="es-ES" b="1" dirty="0" smtClean="0"/>
              <a:t>()</a:t>
            </a:r>
            <a:endParaRPr lang="es-CL" b="1" dirty="0"/>
          </a:p>
        </p:txBody>
      </p:sp>
      <p:pic>
        <p:nvPicPr>
          <p:cNvPr id="4" name="Imagen 3"/>
          <p:cNvPicPr>
            <a:picLocks noChangeAspect="1"/>
          </p:cNvPicPr>
          <p:nvPr/>
        </p:nvPicPr>
        <p:blipFill>
          <a:blip r:embed="rId2"/>
          <a:stretch>
            <a:fillRect/>
          </a:stretch>
        </p:blipFill>
        <p:spPr>
          <a:xfrm>
            <a:off x="803862" y="3591568"/>
            <a:ext cx="9545439" cy="559090"/>
          </a:xfrm>
          <a:prstGeom prst="rect">
            <a:avLst/>
          </a:prstGeom>
        </p:spPr>
      </p:pic>
    </p:spTree>
    <p:extLst>
      <p:ext uri="{BB962C8B-B14F-4D97-AF65-F5344CB8AC3E}">
        <p14:creationId xmlns:p14="http://schemas.microsoft.com/office/powerpoint/2010/main" val="16545423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Trabajo con archivos</a:t>
            </a:r>
            <a:endParaRPr lang="es-CL" dirty="0"/>
          </a:p>
        </p:txBody>
      </p:sp>
      <p:sp>
        <p:nvSpPr>
          <p:cNvPr id="3" name="Marcador de contenido 2"/>
          <p:cNvSpPr>
            <a:spLocks noGrp="1"/>
          </p:cNvSpPr>
          <p:nvPr>
            <p:ph idx="1"/>
          </p:nvPr>
        </p:nvSpPr>
        <p:spPr/>
        <p:txBody>
          <a:bodyPr>
            <a:normAutofit/>
          </a:bodyPr>
          <a:lstStyle/>
          <a:p>
            <a:r>
              <a:rPr lang="es-ES" b="1" dirty="0"/>
              <a:t>datos</a:t>
            </a:r>
            <a:r>
              <a:rPr lang="es-ES" dirty="0"/>
              <a:t> es el nombre de la tabla que recibirá la información leída por </a:t>
            </a:r>
            <a:r>
              <a:rPr lang="es-ES" dirty="0" err="1"/>
              <a:t>read.table</a:t>
            </a:r>
            <a:r>
              <a:rPr lang="es-ES" dirty="0"/>
              <a:t>; de no hacerse la asignación, R se limitará a imprimirlos en la consola.</a:t>
            </a:r>
          </a:p>
          <a:p>
            <a:r>
              <a:rPr lang="es-ES" dirty="0"/>
              <a:t>"</a:t>
            </a:r>
            <a:r>
              <a:rPr lang="es-ES" b="1" dirty="0"/>
              <a:t>C:\\Users\\ralf\\Dropbox\\cursos-charlas</a:t>
            </a:r>
            <a:r>
              <a:rPr lang="es-ES" b="1" dirty="0" smtClean="0"/>
              <a:t>\\</a:t>
            </a:r>
            <a:r>
              <a:rPr lang="es-ES" dirty="0" smtClean="0"/>
              <a:t>" </a:t>
            </a:r>
            <a:r>
              <a:rPr lang="es-ES" dirty="0"/>
              <a:t>es la ruta del </a:t>
            </a:r>
            <a:r>
              <a:rPr lang="es-ES" dirty="0" smtClean="0"/>
              <a:t>archivo de interés.</a:t>
            </a:r>
            <a:endParaRPr lang="es-ES" dirty="0"/>
          </a:p>
          <a:p>
            <a:r>
              <a:rPr lang="es-ES" b="1" dirty="0" err="1"/>
              <a:t>sep</a:t>
            </a:r>
            <a:r>
              <a:rPr lang="es-ES" b="1" dirty="0"/>
              <a:t> = </a:t>
            </a:r>
            <a:r>
              <a:rPr lang="es-ES" b="1" dirty="0" smtClean="0"/>
              <a:t>“,"</a:t>
            </a:r>
            <a:r>
              <a:rPr lang="es-ES" dirty="0" smtClean="0"/>
              <a:t> </a:t>
            </a:r>
            <a:r>
              <a:rPr lang="es-ES" dirty="0"/>
              <a:t>indica que los campos del </a:t>
            </a:r>
            <a:r>
              <a:rPr lang="es-ES" dirty="0" smtClean="0"/>
              <a:t>archivo están </a:t>
            </a:r>
            <a:r>
              <a:rPr lang="es-ES" dirty="0"/>
              <a:t>separados por </a:t>
            </a:r>
            <a:r>
              <a:rPr lang="es-ES" dirty="0" smtClean="0"/>
              <a:t>comas. Siempre es necesario indicar a R el separador.</a:t>
            </a:r>
            <a:endParaRPr lang="es-ES" dirty="0"/>
          </a:p>
          <a:p>
            <a:r>
              <a:rPr lang="es-ES" b="1" dirty="0" err="1"/>
              <a:t>header</a:t>
            </a:r>
            <a:r>
              <a:rPr lang="es-ES" b="1" dirty="0"/>
              <a:t> = </a:t>
            </a:r>
            <a:r>
              <a:rPr lang="es-ES" b="1" dirty="0" smtClean="0"/>
              <a:t>FALSE </a:t>
            </a:r>
            <a:r>
              <a:rPr lang="es-ES" dirty="0" smtClean="0"/>
              <a:t>indica </a:t>
            </a:r>
            <a:r>
              <a:rPr lang="es-ES" dirty="0"/>
              <a:t>que la primera fila del </a:t>
            </a:r>
            <a:r>
              <a:rPr lang="es-ES" dirty="0" smtClean="0"/>
              <a:t>archivo contiene </a:t>
            </a:r>
            <a:r>
              <a:rPr lang="es-ES" dirty="0"/>
              <a:t>los nombres de las </a:t>
            </a:r>
            <a:r>
              <a:rPr lang="es-ES" dirty="0" smtClean="0"/>
              <a:t>columnas (TRUE = cuando las columnas vienen con nombre).</a:t>
            </a:r>
            <a:endParaRPr lang="es-CL" dirty="0"/>
          </a:p>
        </p:txBody>
      </p:sp>
    </p:spTree>
    <p:extLst>
      <p:ext uri="{BB962C8B-B14F-4D97-AF65-F5344CB8AC3E}">
        <p14:creationId xmlns:p14="http://schemas.microsoft.com/office/powerpoint/2010/main" val="27635405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Trabajo con archivos</a:t>
            </a:r>
            <a:endParaRPr lang="es-CL" dirty="0"/>
          </a:p>
        </p:txBody>
      </p:sp>
      <p:sp>
        <p:nvSpPr>
          <p:cNvPr id="3" name="Marcador de contenido 2"/>
          <p:cNvSpPr>
            <a:spLocks noGrp="1"/>
          </p:cNvSpPr>
          <p:nvPr>
            <p:ph idx="1"/>
          </p:nvPr>
        </p:nvSpPr>
        <p:spPr/>
        <p:txBody>
          <a:bodyPr>
            <a:normAutofit/>
          </a:bodyPr>
          <a:lstStyle/>
          <a:p>
            <a:r>
              <a:rPr lang="es-ES" b="1" dirty="0" err="1"/>
              <a:t>dec</a:t>
            </a:r>
            <a:r>
              <a:rPr lang="es-ES" dirty="0"/>
              <a:t>, para indicar el separador de decimales. Por defecto es </a:t>
            </a:r>
            <a:r>
              <a:rPr lang="es-ES" dirty="0" smtClean="0"/>
              <a:t>. </a:t>
            </a:r>
            <a:r>
              <a:rPr lang="es-ES" dirty="0"/>
              <a:t>pero en ocasiones hay que cambiarlo a </a:t>
            </a:r>
            <a:r>
              <a:rPr lang="es-ES" dirty="0" err="1"/>
              <a:t>dec</a:t>
            </a:r>
            <a:r>
              <a:rPr lang="es-ES" dirty="0"/>
              <a:t> = "," para que interprete </a:t>
            </a:r>
            <a:r>
              <a:rPr lang="es-ES" dirty="0" smtClean="0"/>
              <a:t>correctamente.</a:t>
            </a:r>
            <a:endParaRPr lang="es-ES" dirty="0"/>
          </a:p>
          <a:p>
            <a:r>
              <a:rPr lang="es-ES" b="1" dirty="0" err="1"/>
              <a:t>quote</a:t>
            </a:r>
            <a:r>
              <a:rPr lang="es-ES" dirty="0"/>
              <a:t>, que indica qué </a:t>
            </a:r>
            <a:r>
              <a:rPr lang="es-ES" dirty="0" smtClean="0"/>
              <a:t>carácter </a:t>
            </a:r>
            <a:r>
              <a:rPr lang="es-ES" dirty="0"/>
              <a:t>se usa para acotar campos de texto. En algunas ocasiones aparecen campos de texto que contienen apóstrofes </a:t>
            </a:r>
            <a:r>
              <a:rPr lang="es-ES" dirty="0" smtClean="0"/>
              <a:t>(</a:t>
            </a:r>
            <a:r>
              <a:rPr lang="es-ES" dirty="0" err="1" smtClean="0"/>
              <a:t>O’Donnell</a:t>
            </a:r>
            <a:r>
              <a:rPr lang="es-ES" dirty="0"/>
              <a:t>) y la carga de datos puede fracasar de no indicarse </a:t>
            </a:r>
            <a:r>
              <a:rPr lang="es-ES" dirty="0" err="1"/>
              <a:t>quote</a:t>
            </a:r>
            <a:r>
              <a:rPr lang="es-ES" dirty="0"/>
              <a:t> = "".</a:t>
            </a:r>
            <a:endParaRPr lang="es-CL" dirty="0"/>
          </a:p>
        </p:txBody>
      </p:sp>
    </p:spTree>
    <p:extLst>
      <p:ext uri="{BB962C8B-B14F-4D97-AF65-F5344CB8AC3E}">
        <p14:creationId xmlns:p14="http://schemas.microsoft.com/office/powerpoint/2010/main" val="26806697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Gráficos</a:t>
            </a:r>
            <a:endParaRPr lang="es-CL" dirty="0"/>
          </a:p>
        </p:txBody>
      </p:sp>
      <p:sp>
        <p:nvSpPr>
          <p:cNvPr id="3" name="Marcador de contenido 2"/>
          <p:cNvSpPr>
            <a:spLocks noGrp="1"/>
          </p:cNvSpPr>
          <p:nvPr>
            <p:ph idx="1"/>
          </p:nvPr>
        </p:nvSpPr>
        <p:spPr/>
        <p:txBody>
          <a:bodyPr>
            <a:normAutofit/>
          </a:bodyPr>
          <a:lstStyle/>
          <a:p>
            <a:r>
              <a:rPr lang="es-ES" dirty="0"/>
              <a:t>Una variable </a:t>
            </a:r>
            <a:r>
              <a:rPr lang="es-ES" dirty="0" smtClean="0"/>
              <a:t>continua.</a:t>
            </a:r>
            <a:endParaRPr lang="es-ES" dirty="0"/>
          </a:p>
          <a:p>
            <a:r>
              <a:rPr lang="es-ES" dirty="0"/>
              <a:t>Una variable </a:t>
            </a:r>
            <a:r>
              <a:rPr lang="es-ES" dirty="0" smtClean="0"/>
              <a:t>categórica.</a:t>
            </a:r>
            <a:endParaRPr lang="es-ES" dirty="0"/>
          </a:p>
          <a:p>
            <a:r>
              <a:rPr lang="es-ES" dirty="0"/>
              <a:t>La relación entre dos variables </a:t>
            </a:r>
            <a:r>
              <a:rPr lang="es-ES" dirty="0" smtClean="0"/>
              <a:t>continuas.</a:t>
            </a:r>
            <a:endParaRPr lang="es-ES" dirty="0"/>
          </a:p>
          <a:p>
            <a:r>
              <a:rPr lang="es-ES" dirty="0"/>
              <a:t>La relación entre una variable continua y otra </a:t>
            </a:r>
            <a:r>
              <a:rPr lang="es-ES" dirty="0" smtClean="0"/>
              <a:t>categórica.</a:t>
            </a:r>
            <a:endParaRPr lang="es-CL" dirty="0"/>
          </a:p>
        </p:txBody>
      </p:sp>
    </p:spTree>
    <p:extLst>
      <p:ext uri="{BB962C8B-B14F-4D97-AF65-F5344CB8AC3E}">
        <p14:creationId xmlns:p14="http://schemas.microsoft.com/office/powerpoint/2010/main" val="818065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Representación gráfica de variables continuas: histogramas</a:t>
            </a:r>
          </a:p>
        </p:txBody>
      </p:sp>
      <p:sp>
        <p:nvSpPr>
          <p:cNvPr id="3" name="Marcador de contenido 2"/>
          <p:cNvSpPr>
            <a:spLocks noGrp="1"/>
          </p:cNvSpPr>
          <p:nvPr>
            <p:ph sz="half" idx="1"/>
          </p:nvPr>
        </p:nvSpPr>
        <p:spPr/>
        <p:txBody>
          <a:bodyPr>
            <a:normAutofit/>
          </a:bodyPr>
          <a:lstStyle/>
          <a:p>
            <a:r>
              <a:rPr lang="es-ES" dirty="0" smtClean="0"/>
              <a:t>Histograma</a:t>
            </a:r>
          </a:p>
          <a:p>
            <a:r>
              <a:rPr lang="es-CL" dirty="0" err="1"/>
              <a:t>hist</a:t>
            </a:r>
            <a:r>
              <a:rPr lang="es-CL" dirty="0"/>
              <a:t>(</a:t>
            </a:r>
            <a:r>
              <a:rPr lang="es-CL" dirty="0" err="1"/>
              <a:t>iris$Sepal.Width</a:t>
            </a:r>
            <a:r>
              <a:rPr lang="es-CL" dirty="0"/>
              <a:t>)</a:t>
            </a:r>
          </a:p>
        </p:txBody>
      </p:sp>
      <p:pic>
        <p:nvPicPr>
          <p:cNvPr id="5" name="Marcador de contenido 4"/>
          <p:cNvPicPr>
            <a:picLocks noGrp="1" noChangeAspect="1"/>
          </p:cNvPicPr>
          <p:nvPr>
            <p:ph sz="half" idx="2"/>
          </p:nvPr>
        </p:nvPicPr>
        <p:blipFill>
          <a:blip r:embed="rId2"/>
          <a:stretch>
            <a:fillRect/>
          </a:stretch>
        </p:blipFill>
        <p:spPr>
          <a:xfrm>
            <a:off x="5912634" y="2176485"/>
            <a:ext cx="5734809" cy="3397677"/>
          </a:xfrm>
          <a:prstGeom prst="rect">
            <a:avLst/>
          </a:prstGeom>
        </p:spPr>
      </p:pic>
    </p:spTree>
    <p:extLst>
      <p:ext uri="{BB962C8B-B14F-4D97-AF65-F5344CB8AC3E}">
        <p14:creationId xmlns:p14="http://schemas.microsoft.com/office/powerpoint/2010/main" val="30176163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Representación gráfica de variables continuas: histogramas</a:t>
            </a:r>
          </a:p>
        </p:txBody>
      </p:sp>
      <p:sp>
        <p:nvSpPr>
          <p:cNvPr id="3" name="Marcador de contenido 2"/>
          <p:cNvSpPr>
            <a:spLocks noGrp="1"/>
          </p:cNvSpPr>
          <p:nvPr>
            <p:ph sz="half" idx="1"/>
          </p:nvPr>
        </p:nvSpPr>
        <p:spPr/>
        <p:txBody>
          <a:bodyPr>
            <a:normAutofit/>
          </a:bodyPr>
          <a:lstStyle/>
          <a:p>
            <a:r>
              <a:rPr lang="es-ES" dirty="0" smtClean="0"/>
              <a:t>Histograma personalizado.</a:t>
            </a:r>
          </a:p>
          <a:p>
            <a:r>
              <a:rPr lang="es-CL" dirty="0"/>
              <a:t>https://pastebin.com/3yGE9zn0</a:t>
            </a:r>
          </a:p>
        </p:txBody>
      </p:sp>
      <p:pic>
        <p:nvPicPr>
          <p:cNvPr id="6" name="Marcador de contenido 5"/>
          <p:cNvPicPr>
            <a:picLocks noGrp="1" noChangeAspect="1"/>
          </p:cNvPicPr>
          <p:nvPr>
            <p:ph sz="half" idx="2"/>
          </p:nvPr>
        </p:nvPicPr>
        <p:blipFill>
          <a:blip r:embed="rId2"/>
          <a:stretch>
            <a:fillRect/>
          </a:stretch>
        </p:blipFill>
        <p:spPr>
          <a:xfrm>
            <a:off x="5348472" y="2060575"/>
            <a:ext cx="6534531" cy="3785445"/>
          </a:xfrm>
          <a:prstGeom prst="rect">
            <a:avLst/>
          </a:prstGeom>
        </p:spPr>
      </p:pic>
    </p:spTree>
    <p:extLst>
      <p:ext uri="{BB962C8B-B14F-4D97-AF65-F5344CB8AC3E}">
        <p14:creationId xmlns:p14="http://schemas.microsoft.com/office/powerpoint/2010/main" val="1286063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Representación gráfica de variables categóricas: barras</a:t>
            </a:r>
            <a:endParaRPr lang="es-CL" dirty="0"/>
          </a:p>
        </p:txBody>
      </p:sp>
      <p:sp>
        <p:nvSpPr>
          <p:cNvPr id="3" name="Marcador de contenido 2"/>
          <p:cNvSpPr>
            <a:spLocks noGrp="1"/>
          </p:cNvSpPr>
          <p:nvPr>
            <p:ph sz="half" idx="1"/>
          </p:nvPr>
        </p:nvSpPr>
        <p:spPr/>
        <p:txBody>
          <a:bodyPr>
            <a:normAutofit/>
          </a:bodyPr>
          <a:lstStyle/>
          <a:p>
            <a:r>
              <a:rPr lang="es-ES" dirty="0" smtClean="0"/>
              <a:t>Barras</a:t>
            </a:r>
          </a:p>
          <a:p>
            <a:r>
              <a:rPr lang="es-ES" dirty="0" err="1"/>
              <a:t>barplot</a:t>
            </a:r>
            <a:r>
              <a:rPr lang="es-ES" dirty="0"/>
              <a:t>(</a:t>
            </a:r>
            <a:r>
              <a:rPr lang="es-ES" dirty="0" err="1"/>
              <a:t>table</a:t>
            </a:r>
            <a:r>
              <a:rPr lang="es-ES" dirty="0"/>
              <a:t>(</a:t>
            </a:r>
            <a:r>
              <a:rPr lang="es-ES" dirty="0" err="1"/>
              <a:t>iris$Species</a:t>
            </a:r>
            <a:r>
              <a:rPr lang="es-ES" dirty="0" smtClean="0"/>
              <a:t>))</a:t>
            </a:r>
          </a:p>
          <a:p>
            <a:r>
              <a:rPr lang="es-ES" dirty="0" err="1" smtClean="0"/>
              <a:t>Barplot</a:t>
            </a:r>
            <a:r>
              <a:rPr lang="es-ES" dirty="0" smtClean="0"/>
              <a:t>() no muestra la frecuencia</a:t>
            </a:r>
          </a:p>
        </p:txBody>
      </p:sp>
      <p:pic>
        <p:nvPicPr>
          <p:cNvPr id="5" name="Marcador de contenido 4"/>
          <p:cNvPicPr>
            <a:picLocks noGrp="1" noChangeAspect="1"/>
          </p:cNvPicPr>
          <p:nvPr>
            <p:ph sz="half" idx="2"/>
          </p:nvPr>
        </p:nvPicPr>
        <p:blipFill>
          <a:blip r:embed="rId2"/>
          <a:stretch>
            <a:fillRect/>
          </a:stretch>
        </p:blipFill>
        <p:spPr>
          <a:xfrm>
            <a:off x="5654675" y="2950649"/>
            <a:ext cx="4395788" cy="2410852"/>
          </a:xfrm>
          <a:prstGeom prst="rect">
            <a:avLst/>
          </a:prstGeom>
        </p:spPr>
      </p:pic>
    </p:spTree>
    <p:extLst>
      <p:ext uri="{BB962C8B-B14F-4D97-AF65-F5344CB8AC3E}">
        <p14:creationId xmlns:p14="http://schemas.microsoft.com/office/powerpoint/2010/main" val="15990668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Representación gráfica de variables categóricas: barras</a:t>
            </a:r>
            <a:endParaRPr lang="es-CL" dirty="0"/>
          </a:p>
        </p:txBody>
      </p:sp>
      <p:pic>
        <p:nvPicPr>
          <p:cNvPr id="6" name="Marcador de contenido 5"/>
          <p:cNvPicPr>
            <a:picLocks noGrp="1" noChangeAspect="1"/>
          </p:cNvPicPr>
          <p:nvPr>
            <p:ph idx="1"/>
          </p:nvPr>
        </p:nvPicPr>
        <p:blipFill>
          <a:blip r:embed="rId2"/>
          <a:stretch>
            <a:fillRect/>
          </a:stretch>
        </p:blipFill>
        <p:spPr>
          <a:xfrm>
            <a:off x="2768958" y="2006804"/>
            <a:ext cx="6531869" cy="4003773"/>
          </a:xfrm>
          <a:prstGeom prst="rect">
            <a:avLst/>
          </a:prstGeom>
        </p:spPr>
      </p:pic>
    </p:spTree>
    <p:extLst>
      <p:ext uri="{BB962C8B-B14F-4D97-AF65-F5344CB8AC3E}">
        <p14:creationId xmlns:p14="http://schemas.microsoft.com/office/powerpoint/2010/main" val="39100386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z="3200" dirty="0"/>
              <a:t>Representación de la relación entre dos variables continuas: gráficos de dispersión</a:t>
            </a:r>
            <a:endParaRPr lang="es-CL" sz="3200" dirty="0"/>
          </a:p>
        </p:txBody>
      </p:sp>
      <p:sp>
        <p:nvSpPr>
          <p:cNvPr id="4" name="Marcador de contenido 3"/>
          <p:cNvSpPr>
            <a:spLocks noGrp="1"/>
          </p:cNvSpPr>
          <p:nvPr>
            <p:ph sz="half" idx="1"/>
          </p:nvPr>
        </p:nvSpPr>
        <p:spPr/>
        <p:txBody>
          <a:bodyPr/>
          <a:lstStyle/>
          <a:p>
            <a:r>
              <a:rPr lang="es-CL" dirty="0" err="1"/>
              <a:t>plot</a:t>
            </a:r>
            <a:r>
              <a:rPr lang="es-CL" dirty="0"/>
              <a:t>(</a:t>
            </a:r>
            <a:r>
              <a:rPr lang="es-CL" dirty="0" err="1"/>
              <a:t>cars$speed</a:t>
            </a:r>
            <a:r>
              <a:rPr lang="es-CL" dirty="0"/>
              <a:t>, </a:t>
            </a:r>
            <a:r>
              <a:rPr lang="es-CL" dirty="0" err="1"/>
              <a:t>cars$dist</a:t>
            </a:r>
            <a:r>
              <a:rPr lang="es-CL" dirty="0"/>
              <a:t>)</a:t>
            </a:r>
          </a:p>
        </p:txBody>
      </p:sp>
      <p:pic>
        <p:nvPicPr>
          <p:cNvPr id="7" name="Marcador de contenido 6"/>
          <p:cNvPicPr>
            <a:picLocks noGrp="1" noChangeAspect="1"/>
          </p:cNvPicPr>
          <p:nvPr>
            <p:ph sz="half" idx="2"/>
          </p:nvPr>
        </p:nvPicPr>
        <p:blipFill>
          <a:blip r:embed="rId2"/>
          <a:stretch>
            <a:fillRect/>
          </a:stretch>
        </p:blipFill>
        <p:spPr>
          <a:xfrm>
            <a:off x="5654675" y="2817735"/>
            <a:ext cx="4395788" cy="2676680"/>
          </a:xfrm>
          <a:prstGeom prst="rect">
            <a:avLst/>
          </a:prstGeom>
        </p:spPr>
      </p:pic>
    </p:spTree>
    <p:extLst>
      <p:ext uri="{BB962C8B-B14F-4D97-AF65-F5344CB8AC3E}">
        <p14:creationId xmlns:p14="http://schemas.microsoft.com/office/powerpoint/2010/main" val="8535750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z="3200" dirty="0"/>
              <a:t>Representación de la relación entre una variable continua y otra categórica: diagramas de caja (</a:t>
            </a:r>
            <a:r>
              <a:rPr lang="es-ES" sz="3200" dirty="0" err="1"/>
              <a:t>boxplots</a:t>
            </a:r>
            <a:r>
              <a:rPr lang="es-ES" sz="3200" dirty="0"/>
              <a:t>)</a:t>
            </a:r>
            <a:endParaRPr lang="es-CL" sz="3200" dirty="0"/>
          </a:p>
        </p:txBody>
      </p:sp>
      <p:sp>
        <p:nvSpPr>
          <p:cNvPr id="3" name="Marcador de contenido 2"/>
          <p:cNvSpPr>
            <a:spLocks noGrp="1"/>
          </p:cNvSpPr>
          <p:nvPr>
            <p:ph sz="half" idx="1"/>
          </p:nvPr>
        </p:nvSpPr>
        <p:spPr/>
        <p:txBody>
          <a:bodyPr/>
          <a:lstStyle/>
          <a:p>
            <a:r>
              <a:rPr lang="es-CL" dirty="0" err="1"/>
              <a:t>boxplot</a:t>
            </a:r>
            <a:r>
              <a:rPr lang="es-CL" dirty="0"/>
              <a:t>(</a:t>
            </a:r>
            <a:r>
              <a:rPr lang="es-CL" dirty="0" err="1"/>
              <a:t>iris$Sepal.Width</a:t>
            </a:r>
            <a:r>
              <a:rPr lang="es-CL" dirty="0"/>
              <a:t> ~ </a:t>
            </a:r>
            <a:r>
              <a:rPr lang="es-CL" dirty="0" err="1"/>
              <a:t>iris$Species</a:t>
            </a:r>
            <a:r>
              <a:rPr lang="es-CL" dirty="0"/>
              <a:t>, col = "gray",</a:t>
            </a:r>
          </a:p>
          <a:p>
            <a:r>
              <a:rPr lang="es-CL" dirty="0"/>
              <a:t>        </a:t>
            </a:r>
            <a:r>
              <a:rPr lang="es-CL" dirty="0" err="1"/>
              <a:t>main</a:t>
            </a:r>
            <a:r>
              <a:rPr lang="es-CL" dirty="0"/>
              <a:t> = "Especies de iris\</a:t>
            </a:r>
            <a:r>
              <a:rPr lang="es-CL" dirty="0" err="1"/>
              <a:t>nsegún</a:t>
            </a:r>
            <a:r>
              <a:rPr lang="es-CL" dirty="0"/>
              <a:t> la anchura del sépalo")</a:t>
            </a:r>
          </a:p>
        </p:txBody>
      </p:sp>
      <p:pic>
        <p:nvPicPr>
          <p:cNvPr id="5" name="Marcador de contenido 4"/>
          <p:cNvPicPr>
            <a:picLocks noGrp="1" noChangeAspect="1"/>
          </p:cNvPicPr>
          <p:nvPr>
            <p:ph sz="half" idx="2"/>
          </p:nvPr>
        </p:nvPicPr>
        <p:blipFill>
          <a:blip r:embed="rId2"/>
          <a:stretch>
            <a:fillRect/>
          </a:stretch>
        </p:blipFill>
        <p:spPr>
          <a:xfrm>
            <a:off x="5783462" y="2485623"/>
            <a:ext cx="5569243" cy="3206252"/>
          </a:xfrm>
          <a:prstGeom prst="rect">
            <a:avLst/>
          </a:prstGeom>
        </p:spPr>
      </p:pic>
    </p:spTree>
    <p:extLst>
      <p:ext uri="{BB962C8B-B14F-4D97-AF65-F5344CB8AC3E}">
        <p14:creationId xmlns:p14="http://schemas.microsoft.com/office/powerpoint/2010/main" val="31026401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Ejercicio 03</a:t>
            </a:r>
            <a:endParaRPr lang="es-CL" dirty="0"/>
          </a:p>
        </p:txBody>
      </p:sp>
      <p:sp>
        <p:nvSpPr>
          <p:cNvPr id="5" name="Marcador de contenido 4"/>
          <p:cNvSpPr>
            <a:spLocks noGrp="1"/>
          </p:cNvSpPr>
          <p:nvPr>
            <p:ph idx="1"/>
          </p:nvPr>
        </p:nvSpPr>
        <p:spPr/>
        <p:txBody>
          <a:bodyPr/>
          <a:lstStyle/>
          <a:p>
            <a:r>
              <a:rPr lang="es-ES" dirty="0" smtClean="0"/>
              <a:t>Utilizando el set de datos </a:t>
            </a:r>
            <a:r>
              <a:rPr lang="es-ES" dirty="0" err="1" smtClean="0"/>
              <a:t>airquality</a:t>
            </a:r>
            <a:r>
              <a:rPr lang="es-ES" dirty="0" smtClean="0"/>
              <a:t> </a:t>
            </a:r>
            <a:r>
              <a:rPr lang="es-ES" dirty="0"/>
              <a:t>(información meteorológica de ciertos meses de cierto año en Nueva York, que también viene de serie en R) aplicando las funciones </a:t>
            </a:r>
            <a:r>
              <a:rPr lang="es-ES" dirty="0" smtClean="0"/>
              <a:t>anteriores.</a:t>
            </a:r>
          </a:p>
          <a:p>
            <a:r>
              <a:rPr lang="es-ES" dirty="0" smtClean="0"/>
              <a:t>Responder </a:t>
            </a:r>
            <a:r>
              <a:rPr lang="es-ES" dirty="0"/>
              <a:t>las </a:t>
            </a:r>
            <a:r>
              <a:rPr lang="es-ES" dirty="0" smtClean="0"/>
              <a:t>preguntas:</a:t>
            </a:r>
            <a:endParaRPr lang="es-ES" dirty="0"/>
          </a:p>
          <a:p>
            <a:pPr lvl="1"/>
            <a:r>
              <a:rPr lang="es-ES" dirty="0" smtClean="0"/>
              <a:t>¿Cuál </a:t>
            </a:r>
            <a:r>
              <a:rPr lang="es-ES" dirty="0"/>
              <a:t>es la temperatura media de esos días?</a:t>
            </a:r>
          </a:p>
          <a:p>
            <a:pPr lvl="1"/>
            <a:r>
              <a:rPr lang="es-ES" dirty="0" smtClean="0"/>
              <a:t>¿Cuál </a:t>
            </a:r>
            <a:r>
              <a:rPr lang="es-ES" dirty="0"/>
              <a:t>es la temperatura media en mayo?</a:t>
            </a:r>
          </a:p>
          <a:p>
            <a:pPr lvl="1"/>
            <a:r>
              <a:rPr lang="es-ES" dirty="0" smtClean="0"/>
              <a:t>¿Cuál </a:t>
            </a:r>
            <a:r>
              <a:rPr lang="es-ES" dirty="0"/>
              <a:t>fue el día más ventoso</a:t>
            </a:r>
            <a:r>
              <a:rPr lang="es-ES" dirty="0" smtClean="0"/>
              <a:t>?</a:t>
            </a:r>
          </a:p>
          <a:p>
            <a:r>
              <a:rPr lang="es-ES" dirty="0" smtClean="0"/>
              <a:t>Gráficos utilizados y algunas funciones útiles de R:</a:t>
            </a:r>
          </a:p>
          <a:p>
            <a:r>
              <a:rPr lang="es-CL" dirty="0"/>
              <a:t>https://pastebin.com/yPZGJnTT</a:t>
            </a:r>
          </a:p>
        </p:txBody>
      </p:sp>
    </p:spTree>
    <p:extLst>
      <p:ext uri="{BB962C8B-B14F-4D97-AF65-F5344CB8AC3E}">
        <p14:creationId xmlns:p14="http://schemas.microsoft.com/office/powerpoint/2010/main" val="30102688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Vectores</a:t>
            </a:r>
            <a:endParaRPr lang="es-CL" dirty="0"/>
          </a:p>
        </p:txBody>
      </p:sp>
      <p:sp>
        <p:nvSpPr>
          <p:cNvPr id="3" name="Marcador de contenido 2"/>
          <p:cNvSpPr>
            <a:spLocks noGrp="1"/>
          </p:cNvSpPr>
          <p:nvPr>
            <p:ph idx="1"/>
          </p:nvPr>
        </p:nvSpPr>
        <p:spPr/>
        <p:txBody>
          <a:bodyPr/>
          <a:lstStyle/>
          <a:p>
            <a:r>
              <a:rPr lang="es-ES" dirty="0"/>
              <a:t>Los vectores en R son secuencias de objetos del mismo tipo (</a:t>
            </a:r>
            <a:r>
              <a:rPr lang="es-ES" dirty="0" err="1"/>
              <a:t>p.e</a:t>
            </a:r>
            <a:r>
              <a:rPr lang="es-ES" dirty="0"/>
              <a:t>., números). Los encontraremos, sobre todo, como columnas de una tabla; que son, efectivamente, vectores </a:t>
            </a:r>
            <a:r>
              <a:rPr lang="es-ES" dirty="0" smtClean="0"/>
              <a:t>(</a:t>
            </a:r>
            <a:r>
              <a:rPr lang="es-ES" dirty="0" err="1" smtClean="0"/>
              <a:t>iris$Petal.Length</a:t>
            </a:r>
            <a:r>
              <a:rPr lang="es-ES" dirty="0" smtClean="0"/>
              <a:t>)</a:t>
            </a:r>
            <a:endParaRPr lang="es-CL" dirty="0"/>
          </a:p>
        </p:txBody>
      </p:sp>
    </p:spTree>
    <p:extLst>
      <p:ext uri="{BB962C8B-B14F-4D97-AF65-F5344CB8AC3E}">
        <p14:creationId xmlns:p14="http://schemas.microsoft.com/office/powerpoint/2010/main" val="32743172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Vectores</a:t>
            </a:r>
            <a:endParaRPr lang="es-CL" dirty="0"/>
          </a:p>
        </p:txBody>
      </p:sp>
      <p:sp>
        <p:nvSpPr>
          <p:cNvPr id="3" name="Marcador de contenido 2"/>
          <p:cNvSpPr>
            <a:spLocks noGrp="1"/>
          </p:cNvSpPr>
          <p:nvPr>
            <p:ph idx="1"/>
          </p:nvPr>
        </p:nvSpPr>
        <p:spPr/>
        <p:txBody>
          <a:bodyPr/>
          <a:lstStyle/>
          <a:p>
            <a:r>
              <a:rPr lang="es-ES" dirty="0" smtClean="0"/>
              <a:t>La creación de Vectores es:</a:t>
            </a:r>
          </a:p>
          <a:p>
            <a:r>
              <a:rPr lang="es-CL" dirty="0"/>
              <a:t>x &lt;- 1:10</a:t>
            </a:r>
          </a:p>
          <a:p>
            <a:r>
              <a:rPr lang="es-CL" dirty="0"/>
              <a:t>y &lt;- </a:t>
            </a:r>
            <a:r>
              <a:rPr lang="es-CL" dirty="0" err="1" smtClean="0"/>
              <a:t>iris$Species</a:t>
            </a:r>
            <a:endParaRPr lang="es-CL" dirty="0" smtClean="0"/>
          </a:p>
          <a:p>
            <a:r>
              <a:rPr lang="es-ES" dirty="0"/>
              <a:t>Para construir vectores arbitrarios, podemos usar la función de </a:t>
            </a:r>
            <a:r>
              <a:rPr lang="es-ES" dirty="0" smtClean="0"/>
              <a:t>concatenación c:</a:t>
            </a:r>
            <a:endParaRPr lang="es-CL" dirty="0" smtClean="0"/>
          </a:p>
          <a:p>
            <a:pPr lvl="1"/>
            <a:r>
              <a:rPr lang="es-ES" dirty="0"/>
              <a:t>c(1:5, 5:1)</a:t>
            </a:r>
          </a:p>
          <a:p>
            <a:pPr lvl="1"/>
            <a:r>
              <a:rPr lang="es-ES" dirty="0"/>
              <a:t>c(1, 5, -1, 4)</a:t>
            </a:r>
          </a:p>
          <a:p>
            <a:pPr lvl="1"/>
            <a:r>
              <a:rPr lang="es-ES" dirty="0"/>
              <a:t>c("uno", "dos", "tres")</a:t>
            </a:r>
            <a:endParaRPr lang="es-CL" dirty="0"/>
          </a:p>
        </p:txBody>
      </p:sp>
    </p:spTree>
    <p:extLst>
      <p:ext uri="{BB962C8B-B14F-4D97-AF65-F5344CB8AC3E}">
        <p14:creationId xmlns:p14="http://schemas.microsoft.com/office/powerpoint/2010/main" val="15317384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Vectores</a:t>
            </a:r>
            <a:endParaRPr lang="es-CL" dirty="0"/>
          </a:p>
        </p:txBody>
      </p:sp>
      <p:sp>
        <p:nvSpPr>
          <p:cNvPr id="3" name="Marcador de contenido 2"/>
          <p:cNvSpPr>
            <a:spLocks noGrp="1"/>
          </p:cNvSpPr>
          <p:nvPr>
            <p:ph idx="1"/>
          </p:nvPr>
        </p:nvSpPr>
        <p:spPr/>
        <p:txBody>
          <a:bodyPr/>
          <a:lstStyle/>
          <a:p>
            <a:r>
              <a:rPr lang="es-ES" dirty="0" smtClean="0"/>
              <a:t>Los </a:t>
            </a:r>
            <a:r>
              <a:rPr lang="es-ES" dirty="0"/>
              <a:t>: </a:t>
            </a:r>
            <a:r>
              <a:rPr lang="es-ES" dirty="0" smtClean="0"/>
              <a:t>son una </a:t>
            </a:r>
            <a:r>
              <a:rPr lang="es-ES" dirty="0"/>
              <a:t>abreviatura de </a:t>
            </a:r>
            <a:r>
              <a:rPr lang="es-ES" dirty="0" smtClean="0"/>
              <a:t>la función </a:t>
            </a:r>
            <a:r>
              <a:rPr lang="es-ES" b="1" dirty="0" err="1" smtClean="0"/>
              <a:t>seq</a:t>
            </a:r>
            <a:r>
              <a:rPr lang="es-ES" b="1" dirty="0" smtClean="0"/>
              <a:t>()</a:t>
            </a:r>
            <a:r>
              <a:rPr lang="es-ES" dirty="0" smtClean="0"/>
              <a:t>.</a:t>
            </a:r>
          </a:p>
          <a:p>
            <a:r>
              <a:rPr lang="es-ES" dirty="0" err="1" smtClean="0"/>
              <a:t>seq</a:t>
            </a:r>
            <a:r>
              <a:rPr lang="es-ES" dirty="0" smtClean="0"/>
              <a:t>(1,10)</a:t>
            </a:r>
            <a:endParaRPr lang="es-CL" dirty="0"/>
          </a:p>
        </p:txBody>
      </p:sp>
    </p:spTree>
    <p:extLst>
      <p:ext uri="{BB962C8B-B14F-4D97-AF65-F5344CB8AC3E}">
        <p14:creationId xmlns:p14="http://schemas.microsoft.com/office/powerpoint/2010/main" val="25942859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Vectores</a:t>
            </a:r>
            <a:endParaRPr lang="es-CL" dirty="0"/>
          </a:p>
        </p:txBody>
      </p:sp>
      <p:sp>
        <p:nvSpPr>
          <p:cNvPr id="3" name="Marcador de contenido 2"/>
          <p:cNvSpPr>
            <a:spLocks noGrp="1"/>
          </p:cNvSpPr>
          <p:nvPr>
            <p:ph idx="1"/>
          </p:nvPr>
        </p:nvSpPr>
        <p:spPr/>
        <p:txBody>
          <a:bodyPr/>
          <a:lstStyle/>
          <a:p>
            <a:r>
              <a:rPr lang="es-ES" dirty="0" smtClean="0"/>
              <a:t>Los </a:t>
            </a:r>
            <a:r>
              <a:rPr lang="es-ES" dirty="0"/>
              <a:t>: </a:t>
            </a:r>
            <a:r>
              <a:rPr lang="es-ES" dirty="0" smtClean="0"/>
              <a:t>son una </a:t>
            </a:r>
            <a:r>
              <a:rPr lang="es-ES" dirty="0"/>
              <a:t>abreviatura de </a:t>
            </a:r>
            <a:r>
              <a:rPr lang="es-ES" dirty="0" smtClean="0"/>
              <a:t>la función </a:t>
            </a:r>
            <a:r>
              <a:rPr lang="es-ES" b="1" dirty="0" err="1" smtClean="0"/>
              <a:t>seq</a:t>
            </a:r>
            <a:r>
              <a:rPr lang="es-ES" b="1" dirty="0" smtClean="0"/>
              <a:t>()</a:t>
            </a:r>
            <a:r>
              <a:rPr lang="es-ES" dirty="0" smtClean="0"/>
              <a:t>.</a:t>
            </a:r>
          </a:p>
          <a:p>
            <a:r>
              <a:rPr lang="es-ES" dirty="0" err="1" smtClean="0"/>
              <a:t>seq</a:t>
            </a:r>
            <a:r>
              <a:rPr lang="es-ES" dirty="0" smtClean="0"/>
              <a:t>(1,10)</a:t>
            </a:r>
          </a:p>
          <a:p>
            <a:r>
              <a:rPr lang="es-ES" dirty="0" smtClean="0"/>
              <a:t>Por otro lado existe la función </a:t>
            </a:r>
            <a:r>
              <a:rPr lang="es-ES" dirty="0" err="1" smtClean="0"/>
              <a:t>rep</a:t>
            </a:r>
            <a:r>
              <a:rPr lang="es-ES" dirty="0" smtClean="0"/>
              <a:t>() que replica los valores en X</a:t>
            </a:r>
            <a:endParaRPr lang="es-ES" dirty="0"/>
          </a:p>
          <a:p>
            <a:r>
              <a:rPr lang="es-ES" dirty="0" err="1" smtClean="0"/>
              <a:t>rep</a:t>
            </a:r>
            <a:r>
              <a:rPr lang="es-ES" dirty="0" smtClean="0"/>
              <a:t>(x) #### replicación</a:t>
            </a:r>
          </a:p>
          <a:p>
            <a:r>
              <a:rPr lang="es-ES" dirty="0" smtClean="0"/>
              <a:t>rep.int(</a:t>
            </a:r>
            <a:r>
              <a:rPr lang="es-ES" dirty="0" err="1" smtClean="0"/>
              <a:t>x,times</a:t>
            </a:r>
            <a:r>
              <a:rPr lang="es-ES" dirty="0" smtClean="0"/>
              <a:t>) #### Cantidad de veces replicada</a:t>
            </a:r>
          </a:p>
          <a:p>
            <a:r>
              <a:rPr lang="es-ES" dirty="0" err="1" smtClean="0"/>
              <a:t>rep_len</a:t>
            </a:r>
            <a:r>
              <a:rPr lang="es-ES" dirty="0" smtClean="0"/>
              <a:t>(</a:t>
            </a:r>
            <a:r>
              <a:rPr lang="es-ES" dirty="0" err="1" smtClean="0"/>
              <a:t>x,length.out</a:t>
            </a:r>
            <a:r>
              <a:rPr lang="es-ES" dirty="0" smtClean="0"/>
              <a:t>) ### Largo</a:t>
            </a:r>
            <a:endParaRPr lang="es-CL" dirty="0"/>
          </a:p>
        </p:txBody>
      </p:sp>
    </p:spTree>
    <p:extLst>
      <p:ext uri="{BB962C8B-B14F-4D97-AF65-F5344CB8AC3E}">
        <p14:creationId xmlns:p14="http://schemas.microsoft.com/office/powerpoint/2010/main" val="22766425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Inspección de vectores</a:t>
            </a:r>
            <a:endParaRPr lang="es-CL" dirty="0"/>
          </a:p>
        </p:txBody>
      </p:sp>
      <p:sp>
        <p:nvSpPr>
          <p:cNvPr id="3" name="Marcador de contenido 2"/>
          <p:cNvSpPr>
            <a:spLocks noGrp="1"/>
          </p:cNvSpPr>
          <p:nvPr>
            <p:ph idx="1"/>
          </p:nvPr>
        </p:nvSpPr>
        <p:spPr/>
        <p:txBody>
          <a:bodyPr/>
          <a:lstStyle/>
          <a:p>
            <a:r>
              <a:rPr lang="en-US" dirty="0"/>
              <a:t>plot(x)</a:t>
            </a:r>
          </a:p>
          <a:p>
            <a:r>
              <a:rPr lang="en-US" dirty="0"/>
              <a:t>length(x)</a:t>
            </a:r>
          </a:p>
          <a:p>
            <a:r>
              <a:rPr lang="en-US" dirty="0"/>
              <a:t>table(y) </a:t>
            </a:r>
            <a:endParaRPr lang="en-US" dirty="0" smtClean="0"/>
          </a:p>
          <a:p>
            <a:r>
              <a:rPr lang="en-US" dirty="0" smtClean="0"/>
              <a:t>summary(y</a:t>
            </a:r>
            <a:r>
              <a:rPr lang="en-US" dirty="0"/>
              <a:t>)</a:t>
            </a:r>
          </a:p>
          <a:p>
            <a:r>
              <a:rPr lang="en-US" dirty="0"/>
              <a:t>head(x)</a:t>
            </a:r>
          </a:p>
          <a:p>
            <a:r>
              <a:rPr lang="en-US" dirty="0"/>
              <a:t>tail(x)</a:t>
            </a:r>
            <a:endParaRPr lang="es-CL" dirty="0"/>
          </a:p>
        </p:txBody>
      </p:sp>
    </p:spTree>
    <p:extLst>
      <p:ext uri="{BB962C8B-B14F-4D97-AF65-F5344CB8AC3E}">
        <p14:creationId xmlns:p14="http://schemas.microsoft.com/office/powerpoint/2010/main" val="1354042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Inspección de vectores</a:t>
            </a:r>
            <a:endParaRPr lang="es-CL" dirty="0"/>
          </a:p>
        </p:txBody>
      </p:sp>
      <p:sp>
        <p:nvSpPr>
          <p:cNvPr id="3" name="Marcador de contenido 2"/>
          <p:cNvSpPr>
            <a:spLocks noGrp="1"/>
          </p:cNvSpPr>
          <p:nvPr>
            <p:ph idx="1"/>
          </p:nvPr>
        </p:nvSpPr>
        <p:spPr/>
        <p:txBody>
          <a:bodyPr/>
          <a:lstStyle/>
          <a:p>
            <a:r>
              <a:rPr lang="es-ES" dirty="0"/>
              <a:t>La función </a:t>
            </a:r>
            <a:r>
              <a:rPr lang="es-ES" dirty="0" err="1"/>
              <a:t>table</a:t>
            </a:r>
            <a:r>
              <a:rPr lang="es-ES" dirty="0"/>
              <a:t> cuenta los elementos de un vector por </a:t>
            </a:r>
            <a:r>
              <a:rPr lang="es-ES" dirty="0" smtClean="0"/>
              <a:t>valor.</a:t>
            </a:r>
          </a:p>
          <a:p>
            <a:r>
              <a:rPr lang="es-ES" dirty="0" smtClean="0"/>
              <a:t>Es </a:t>
            </a:r>
            <a:r>
              <a:rPr lang="es-ES" dirty="0"/>
              <a:t>una función sumamente importante para examinar vectores </a:t>
            </a:r>
            <a:r>
              <a:rPr lang="es-ES" dirty="0" smtClean="0"/>
              <a:t>categóricos.</a:t>
            </a:r>
          </a:p>
          <a:p>
            <a:r>
              <a:rPr lang="es-CL" dirty="0" err="1"/>
              <a:t>table</a:t>
            </a:r>
            <a:r>
              <a:rPr lang="es-CL" dirty="0"/>
              <a:t>(</a:t>
            </a:r>
            <a:r>
              <a:rPr lang="es-CL" dirty="0" err="1"/>
              <a:t>iris$Species</a:t>
            </a:r>
            <a:r>
              <a:rPr lang="es-CL" dirty="0"/>
              <a:t>)</a:t>
            </a:r>
          </a:p>
        </p:txBody>
      </p:sp>
      <p:pic>
        <p:nvPicPr>
          <p:cNvPr id="4" name="Imagen 3"/>
          <p:cNvPicPr>
            <a:picLocks noChangeAspect="1"/>
          </p:cNvPicPr>
          <p:nvPr/>
        </p:nvPicPr>
        <p:blipFill>
          <a:blip r:embed="rId2"/>
          <a:stretch>
            <a:fillRect/>
          </a:stretch>
        </p:blipFill>
        <p:spPr>
          <a:xfrm>
            <a:off x="3075322" y="4134118"/>
            <a:ext cx="5370199" cy="1609121"/>
          </a:xfrm>
          <a:prstGeom prst="rect">
            <a:avLst/>
          </a:prstGeom>
        </p:spPr>
      </p:pic>
    </p:spTree>
    <p:extLst>
      <p:ext uri="{BB962C8B-B14F-4D97-AF65-F5344CB8AC3E}">
        <p14:creationId xmlns:p14="http://schemas.microsoft.com/office/powerpoint/2010/main" val="31895326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Selección de vectores</a:t>
            </a:r>
          </a:p>
        </p:txBody>
      </p:sp>
      <p:sp>
        <p:nvSpPr>
          <p:cNvPr id="3" name="Marcador de contenido 2"/>
          <p:cNvSpPr>
            <a:spLocks noGrp="1"/>
          </p:cNvSpPr>
          <p:nvPr>
            <p:ph idx="1"/>
          </p:nvPr>
        </p:nvSpPr>
        <p:spPr/>
        <p:txBody>
          <a:bodyPr/>
          <a:lstStyle/>
          <a:p>
            <a:r>
              <a:rPr lang="es-ES" dirty="0"/>
              <a:t>Para seleccionar elementos de un vector se usa el corchete []. Pero, a diferencia de lo que ocurre con las tablas, como los vectores son objetos unidimensionales, sin coma. Obviamente, el corchete sigue admitiendo no solo los índices de los elementos que se quieren extraer, sino que además permite utilizar condiciones lógicas</a:t>
            </a:r>
            <a:endParaRPr lang="es-CL" dirty="0"/>
          </a:p>
        </p:txBody>
      </p:sp>
    </p:spTree>
    <p:extLst>
      <p:ext uri="{BB962C8B-B14F-4D97-AF65-F5344CB8AC3E}">
        <p14:creationId xmlns:p14="http://schemas.microsoft.com/office/powerpoint/2010/main" val="15936549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Selección de vectores</a:t>
            </a:r>
            <a:endParaRPr lang="es-CL" dirty="0"/>
          </a:p>
        </p:txBody>
      </p:sp>
      <p:sp>
        <p:nvSpPr>
          <p:cNvPr id="3" name="Marcador de contenido 2"/>
          <p:cNvSpPr>
            <a:spLocks noGrp="1"/>
          </p:cNvSpPr>
          <p:nvPr>
            <p:ph idx="1"/>
          </p:nvPr>
        </p:nvSpPr>
        <p:spPr/>
        <p:txBody>
          <a:bodyPr/>
          <a:lstStyle/>
          <a:p>
            <a:r>
              <a:rPr lang="es-ES" dirty="0"/>
              <a:t>El corchete también permite seleccionar elementos de un vector por </a:t>
            </a:r>
            <a:r>
              <a:rPr lang="es-ES" dirty="0" smtClean="0"/>
              <a:t>nombre.</a:t>
            </a:r>
          </a:p>
          <a:p>
            <a:r>
              <a:rPr lang="es-ES" dirty="0" smtClean="0"/>
              <a:t>En </a:t>
            </a:r>
            <a:r>
              <a:rPr lang="es-ES" dirty="0"/>
              <a:t>R se pueden asociar nombres a los elementos de un vector. Lo hace automáticamente, por ejemplo, </a:t>
            </a:r>
            <a:r>
              <a:rPr lang="es-ES" dirty="0" err="1"/>
              <a:t>table</a:t>
            </a:r>
            <a:r>
              <a:rPr lang="es-ES" dirty="0"/>
              <a:t> (para poder saber a qué etiqueta corresponde cada conteo)</a:t>
            </a:r>
            <a:endParaRPr lang="es-CL" dirty="0"/>
          </a:p>
        </p:txBody>
      </p:sp>
    </p:spTree>
    <p:extLst>
      <p:ext uri="{BB962C8B-B14F-4D97-AF65-F5344CB8AC3E}">
        <p14:creationId xmlns:p14="http://schemas.microsoft.com/office/powerpoint/2010/main" val="32327029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Selección de vectores</a:t>
            </a:r>
            <a:endParaRPr lang="es-CL" dirty="0"/>
          </a:p>
        </p:txBody>
      </p:sp>
      <p:sp>
        <p:nvSpPr>
          <p:cNvPr id="3" name="Marcador de contenido 2"/>
          <p:cNvSpPr>
            <a:spLocks noGrp="1"/>
          </p:cNvSpPr>
          <p:nvPr>
            <p:ph idx="1"/>
          </p:nvPr>
        </p:nvSpPr>
        <p:spPr/>
        <p:txBody>
          <a:bodyPr/>
          <a:lstStyle/>
          <a:p>
            <a:r>
              <a:rPr lang="es-ES" dirty="0"/>
              <a:t>Una propiedad muy importante del corchete es que permite, además de seleccionar, cambiar el contenido de los elementos seleccionados de un </a:t>
            </a:r>
            <a:r>
              <a:rPr lang="es-ES" dirty="0" smtClean="0"/>
              <a:t>vector.</a:t>
            </a:r>
          </a:p>
          <a:p>
            <a:r>
              <a:rPr lang="pl-PL" dirty="0"/>
              <a:t>z &lt;- 1:10</a:t>
            </a:r>
          </a:p>
          <a:p>
            <a:r>
              <a:rPr lang="pl-PL" dirty="0"/>
              <a:t>z[z &lt; 5] &lt;- 100</a:t>
            </a:r>
          </a:p>
          <a:p>
            <a:r>
              <a:rPr lang="pl-PL" dirty="0"/>
              <a:t>z</a:t>
            </a:r>
            <a:endParaRPr lang="es-CL" dirty="0"/>
          </a:p>
        </p:txBody>
      </p:sp>
    </p:spTree>
    <p:extLst>
      <p:ext uri="{BB962C8B-B14F-4D97-AF65-F5344CB8AC3E}">
        <p14:creationId xmlns:p14="http://schemas.microsoft.com/office/powerpoint/2010/main" val="34988184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Selección de vectores</a:t>
            </a:r>
            <a:endParaRPr lang="es-CL" dirty="0"/>
          </a:p>
        </p:txBody>
      </p:sp>
      <p:sp>
        <p:nvSpPr>
          <p:cNvPr id="3" name="Marcador de contenido 2"/>
          <p:cNvSpPr>
            <a:spLocks noGrp="1"/>
          </p:cNvSpPr>
          <p:nvPr>
            <p:ph idx="1"/>
          </p:nvPr>
        </p:nvSpPr>
        <p:spPr/>
        <p:txBody>
          <a:bodyPr/>
          <a:lstStyle/>
          <a:p>
            <a:r>
              <a:rPr lang="es-ES" dirty="0"/>
              <a:t>Reemplazar </a:t>
            </a:r>
            <a:r>
              <a:rPr lang="es-ES" dirty="0" smtClean="0"/>
              <a:t>sub selecciones </a:t>
            </a:r>
            <a:r>
              <a:rPr lang="es-ES" dirty="0"/>
              <a:t>es muy útil: permitirá</a:t>
            </a:r>
            <a:r>
              <a:rPr lang="es-ES" dirty="0" smtClean="0"/>
              <a:t>, </a:t>
            </a:r>
            <a:r>
              <a:rPr lang="es-ES" dirty="0"/>
              <a:t>cambiar las edades negativas por un valor con sentido, sustituir los nulos por un determinado valor por defecto, reemplazar los valores que excedan un tope por dicho tope, etc</a:t>
            </a:r>
            <a:r>
              <a:rPr lang="es-ES" dirty="0" smtClean="0"/>
              <a:t>.</a:t>
            </a:r>
          </a:p>
          <a:p>
            <a:r>
              <a:rPr lang="es-ES" dirty="0"/>
              <a:t>El nombre de las columnas de una tabla también es un vector. Por eso, para cambiar el nombre de una columna podemos hacer lo siguiente</a:t>
            </a:r>
            <a:r>
              <a:rPr lang="es-ES" dirty="0" smtClean="0"/>
              <a:t>:</a:t>
            </a:r>
          </a:p>
          <a:p>
            <a:r>
              <a:rPr lang="es-CL" dirty="0" err="1"/>
              <a:t>mi.iris</a:t>
            </a:r>
            <a:r>
              <a:rPr lang="es-CL" dirty="0"/>
              <a:t> &lt;- iris   # una copia de iris</a:t>
            </a:r>
          </a:p>
          <a:p>
            <a:r>
              <a:rPr lang="es-CL" dirty="0" err="1"/>
              <a:t>colnames</a:t>
            </a:r>
            <a:r>
              <a:rPr lang="es-CL" dirty="0"/>
              <a:t>(</a:t>
            </a:r>
            <a:r>
              <a:rPr lang="es-CL" dirty="0" err="1"/>
              <a:t>mi.iris</a:t>
            </a:r>
            <a:r>
              <a:rPr lang="es-CL" dirty="0"/>
              <a:t>)[5] &lt;- "Especie"</a:t>
            </a:r>
          </a:p>
        </p:txBody>
      </p:sp>
    </p:spTree>
    <p:extLst>
      <p:ext uri="{BB962C8B-B14F-4D97-AF65-F5344CB8AC3E}">
        <p14:creationId xmlns:p14="http://schemas.microsoft.com/office/powerpoint/2010/main" val="6343336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Selección de vectores</a:t>
            </a:r>
            <a:endParaRPr lang="es-CL" dirty="0"/>
          </a:p>
        </p:txBody>
      </p:sp>
      <p:sp>
        <p:nvSpPr>
          <p:cNvPr id="3" name="Marcador de contenido 2"/>
          <p:cNvSpPr>
            <a:spLocks noGrp="1"/>
          </p:cNvSpPr>
          <p:nvPr>
            <p:ph idx="1"/>
          </p:nvPr>
        </p:nvSpPr>
        <p:spPr/>
        <p:txBody>
          <a:bodyPr/>
          <a:lstStyle/>
          <a:p>
            <a:r>
              <a:rPr lang="es-ES" dirty="0"/>
              <a:t>Lo mismo ocurre con los nombres de un vector, aunque en este caso, la función correspondiente es </a:t>
            </a:r>
            <a:r>
              <a:rPr lang="es-ES" dirty="0" err="1" smtClean="0"/>
              <a:t>names</a:t>
            </a:r>
            <a:r>
              <a:rPr lang="es-ES" dirty="0" smtClean="0"/>
              <a:t>.</a:t>
            </a:r>
          </a:p>
          <a:p>
            <a:r>
              <a:rPr lang="pl-PL" dirty="0"/>
              <a:t>z &lt;- table(iris$Species)</a:t>
            </a:r>
          </a:p>
          <a:p>
            <a:r>
              <a:rPr lang="pl-PL" dirty="0"/>
              <a:t>names(z)</a:t>
            </a:r>
          </a:p>
          <a:p>
            <a:r>
              <a:rPr lang="pl-PL" dirty="0"/>
              <a:t>names(z)[1] &lt;- "A"</a:t>
            </a:r>
          </a:p>
          <a:p>
            <a:r>
              <a:rPr lang="pl-PL" dirty="0"/>
              <a:t>names(z)</a:t>
            </a:r>
            <a:endParaRPr lang="es-CL" dirty="0"/>
          </a:p>
        </p:txBody>
      </p:sp>
    </p:spTree>
    <p:extLst>
      <p:ext uri="{BB962C8B-B14F-4D97-AF65-F5344CB8AC3E}">
        <p14:creationId xmlns:p14="http://schemas.microsoft.com/office/powerpoint/2010/main" val="98425347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Selección de vectores</a:t>
            </a:r>
            <a:endParaRPr lang="es-CL" dirty="0"/>
          </a:p>
        </p:txBody>
      </p:sp>
      <p:sp>
        <p:nvSpPr>
          <p:cNvPr id="3" name="Marcador de contenido 2"/>
          <p:cNvSpPr>
            <a:spLocks noGrp="1"/>
          </p:cNvSpPr>
          <p:nvPr>
            <p:ph idx="1"/>
          </p:nvPr>
        </p:nvSpPr>
        <p:spPr/>
        <p:txBody>
          <a:bodyPr/>
          <a:lstStyle/>
          <a:p>
            <a:r>
              <a:rPr lang="es-ES" dirty="0"/>
              <a:t>Frecuentemente se quiere </a:t>
            </a:r>
            <a:r>
              <a:rPr lang="es-ES" dirty="0" smtClean="0"/>
              <a:t>obtener </a:t>
            </a:r>
            <a:r>
              <a:rPr lang="es-ES" dirty="0"/>
              <a:t>una serie de elementos al azar dentro de dicho vector. Para ello se utiliza la función </a:t>
            </a:r>
            <a:r>
              <a:rPr lang="es-ES" dirty="0" err="1" smtClean="0"/>
              <a:t>sample</a:t>
            </a:r>
            <a:r>
              <a:rPr lang="es-ES" dirty="0" smtClean="0"/>
              <a:t>:</a:t>
            </a:r>
          </a:p>
          <a:p>
            <a:r>
              <a:rPr lang="es-CL" dirty="0" err="1"/>
              <a:t>sample</a:t>
            </a:r>
            <a:r>
              <a:rPr lang="es-CL" dirty="0"/>
              <a:t>(x, 4)</a:t>
            </a:r>
          </a:p>
          <a:p>
            <a:r>
              <a:rPr lang="es-CL" dirty="0" err="1"/>
              <a:t>sample</a:t>
            </a:r>
            <a:r>
              <a:rPr lang="es-CL" dirty="0"/>
              <a:t>(x, 100)                  # ¡falla!</a:t>
            </a:r>
          </a:p>
          <a:p>
            <a:r>
              <a:rPr lang="es-CL" dirty="0" err="1"/>
              <a:t>sample</a:t>
            </a:r>
            <a:r>
              <a:rPr lang="es-CL" dirty="0"/>
              <a:t>(x, 100, </a:t>
            </a:r>
            <a:r>
              <a:rPr lang="es-CL" dirty="0" err="1"/>
              <a:t>replace</a:t>
            </a:r>
            <a:r>
              <a:rPr lang="es-CL" dirty="0"/>
              <a:t> = TRUE)  # manera correcta</a:t>
            </a:r>
          </a:p>
        </p:txBody>
      </p:sp>
    </p:spTree>
    <p:extLst>
      <p:ext uri="{BB962C8B-B14F-4D97-AF65-F5344CB8AC3E}">
        <p14:creationId xmlns:p14="http://schemas.microsoft.com/office/powerpoint/2010/main" val="17922184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Selección de vectores</a:t>
            </a:r>
            <a:endParaRPr lang="es-CL" dirty="0"/>
          </a:p>
        </p:txBody>
      </p:sp>
      <p:sp>
        <p:nvSpPr>
          <p:cNvPr id="3" name="Marcador de contenido 2"/>
          <p:cNvSpPr>
            <a:spLocks noGrp="1"/>
          </p:cNvSpPr>
          <p:nvPr>
            <p:ph idx="1"/>
          </p:nvPr>
        </p:nvSpPr>
        <p:spPr/>
        <p:txBody>
          <a:bodyPr/>
          <a:lstStyle/>
          <a:p>
            <a:r>
              <a:rPr lang="es-ES" dirty="0"/>
              <a:t>La función </a:t>
            </a:r>
            <a:r>
              <a:rPr lang="es-ES" dirty="0" err="1"/>
              <a:t>sample</a:t>
            </a:r>
            <a:r>
              <a:rPr lang="es-ES" dirty="0"/>
              <a:t> trata el vector como una urna y a sus elementos como bolas contenidas en ella que va extrayendo al azar</a:t>
            </a:r>
            <a:r>
              <a:rPr lang="es-ES" dirty="0" smtClean="0"/>
              <a:t>.</a:t>
            </a:r>
          </a:p>
          <a:p>
            <a:r>
              <a:rPr lang="es-ES" dirty="0" smtClean="0"/>
              <a:t>Es </a:t>
            </a:r>
            <a:r>
              <a:rPr lang="es-ES" dirty="0"/>
              <a:t>incapaz de extraer más elementos de los que contiene la </a:t>
            </a:r>
            <a:r>
              <a:rPr lang="es-ES" dirty="0" smtClean="0"/>
              <a:t>urna.</a:t>
            </a:r>
          </a:p>
        </p:txBody>
      </p:sp>
    </p:spTree>
    <p:extLst>
      <p:ext uri="{BB962C8B-B14F-4D97-AF65-F5344CB8AC3E}">
        <p14:creationId xmlns:p14="http://schemas.microsoft.com/office/powerpoint/2010/main" val="34523377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Ordenación</a:t>
            </a:r>
            <a:endParaRPr lang="es-CL" dirty="0"/>
          </a:p>
        </p:txBody>
      </p:sp>
      <p:sp>
        <p:nvSpPr>
          <p:cNvPr id="3" name="Marcador de contenido 2"/>
          <p:cNvSpPr>
            <a:spLocks noGrp="1"/>
          </p:cNvSpPr>
          <p:nvPr>
            <p:ph idx="1"/>
          </p:nvPr>
        </p:nvSpPr>
        <p:spPr/>
        <p:txBody>
          <a:bodyPr/>
          <a:lstStyle/>
          <a:p>
            <a:r>
              <a:rPr lang="es-ES" dirty="0"/>
              <a:t>Existen tres funciones fundamentales relacionadas con la ordenación de vectores: </a:t>
            </a:r>
            <a:r>
              <a:rPr lang="es-ES" dirty="0" err="1"/>
              <a:t>order</a:t>
            </a:r>
            <a:r>
              <a:rPr lang="es-ES" dirty="0"/>
              <a:t>, </a:t>
            </a:r>
            <a:r>
              <a:rPr lang="es-ES" dirty="0" err="1"/>
              <a:t>sort</a:t>
            </a:r>
            <a:r>
              <a:rPr lang="es-ES" dirty="0"/>
              <a:t> y </a:t>
            </a:r>
            <a:r>
              <a:rPr lang="es-ES" dirty="0" err="1" smtClean="0"/>
              <a:t>rank</a:t>
            </a:r>
            <a:r>
              <a:rPr lang="es-ES" dirty="0" smtClean="0"/>
              <a:t>.</a:t>
            </a:r>
          </a:p>
          <a:p>
            <a:r>
              <a:rPr lang="es-ES" dirty="0" err="1" smtClean="0"/>
              <a:t>sort</a:t>
            </a:r>
            <a:r>
              <a:rPr lang="es-ES" dirty="0" smtClean="0"/>
              <a:t> </a:t>
            </a:r>
            <a:r>
              <a:rPr lang="es-ES" dirty="0"/>
              <a:t>ordena los elementos de un vector, </a:t>
            </a:r>
            <a:r>
              <a:rPr lang="es-ES" dirty="0" smtClean="0"/>
              <a:t>y </a:t>
            </a:r>
            <a:r>
              <a:rPr lang="es-ES" dirty="0"/>
              <a:t>crea una copia de dicho vector con sus elementos ordenados</a:t>
            </a:r>
            <a:r>
              <a:rPr lang="es-ES" dirty="0" smtClean="0"/>
              <a:t>.</a:t>
            </a:r>
          </a:p>
          <a:p>
            <a:r>
              <a:rPr lang="es-ES" dirty="0"/>
              <a:t>x &lt;- c(4, 5, 3, 2, 1, 2)</a:t>
            </a:r>
          </a:p>
          <a:p>
            <a:r>
              <a:rPr lang="es-ES" dirty="0" err="1" smtClean="0"/>
              <a:t>sort</a:t>
            </a:r>
            <a:r>
              <a:rPr lang="es-ES" dirty="0" smtClean="0"/>
              <a:t>(x)</a:t>
            </a:r>
          </a:p>
        </p:txBody>
      </p:sp>
    </p:spTree>
    <p:extLst>
      <p:ext uri="{BB962C8B-B14F-4D97-AF65-F5344CB8AC3E}">
        <p14:creationId xmlns:p14="http://schemas.microsoft.com/office/powerpoint/2010/main" val="34774896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Ordenación</a:t>
            </a:r>
            <a:endParaRPr lang="es-CL" dirty="0"/>
          </a:p>
        </p:txBody>
      </p:sp>
      <p:sp>
        <p:nvSpPr>
          <p:cNvPr id="3" name="Marcador de contenido 2"/>
          <p:cNvSpPr>
            <a:spLocks noGrp="1"/>
          </p:cNvSpPr>
          <p:nvPr>
            <p:ph idx="1"/>
          </p:nvPr>
        </p:nvSpPr>
        <p:spPr/>
        <p:txBody>
          <a:bodyPr/>
          <a:lstStyle/>
          <a:p>
            <a:r>
              <a:rPr lang="es-ES" dirty="0"/>
              <a:t>La función </a:t>
            </a:r>
            <a:r>
              <a:rPr lang="es-ES" dirty="0" err="1"/>
              <a:t>rank</a:t>
            </a:r>
            <a:r>
              <a:rPr lang="es-ES" dirty="0"/>
              <a:t> indica la posición de los elementos de un vector: el primero, el segundo, etc</a:t>
            </a:r>
            <a:r>
              <a:rPr lang="es-ES" dirty="0" smtClean="0"/>
              <a:t>.</a:t>
            </a:r>
          </a:p>
          <a:p>
            <a:r>
              <a:rPr lang="es-ES" dirty="0" err="1"/>
              <a:t>rank</a:t>
            </a:r>
            <a:r>
              <a:rPr lang="es-ES" dirty="0"/>
              <a:t>(x)</a:t>
            </a:r>
          </a:p>
          <a:p>
            <a:r>
              <a:rPr lang="es-ES" dirty="0" err="1"/>
              <a:t>rank</a:t>
            </a:r>
            <a:r>
              <a:rPr lang="es-ES" dirty="0"/>
              <a:t>(x, </a:t>
            </a:r>
            <a:r>
              <a:rPr lang="es-ES" dirty="0" err="1"/>
              <a:t>ties</a:t>
            </a:r>
            <a:r>
              <a:rPr lang="es-ES" dirty="0"/>
              <a:t> = "</a:t>
            </a:r>
            <a:r>
              <a:rPr lang="es-ES" dirty="0" err="1"/>
              <a:t>first</a:t>
            </a:r>
            <a:r>
              <a:rPr lang="es-ES" dirty="0"/>
              <a:t>")</a:t>
            </a:r>
            <a:endParaRPr lang="es-ES" dirty="0" smtClean="0"/>
          </a:p>
        </p:txBody>
      </p:sp>
    </p:spTree>
    <p:extLst>
      <p:ext uri="{BB962C8B-B14F-4D97-AF65-F5344CB8AC3E}">
        <p14:creationId xmlns:p14="http://schemas.microsoft.com/office/powerpoint/2010/main" val="29514543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Operaciones matemáticas y </a:t>
            </a:r>
            <a:r>
              <a:rPr lang="es-CL" dirty="0" err="1"/>
              <a:t>vectorización</a:t>
            </a:r>
            <a:endParaRPr lang="es-CL" dirty="0"/>
          </a:p>
        </p:txBody>
      </p:sp>
      <p:sp>
        <p:nvSpPr>
          <p:cNvPr id="3" name="Marcador de contenido 2"/>
          <p:cNvSpPr>
            <a:spLocks noGrp="1"/>
          </p:cNvSpPr>
          <p:nvPr>
            <p:ph idx="1"/>
          </p:nvPr>
        </p:nvSpPr>
        <p:spPr/>
        <p:txBody>
          <a:bodyPr/>
          <a:lstStyle/>
          <a:p>
            <a:r>
              <a:rPr lang="es-ES" dirty="0" smtClean="0"/>
              <a:t>2+2</a:t>
            </a:r>
          </a:p>
          <a:p>
            <a:r>
              <a:rPr lang="es-ES" dirty="0"/>
              <a:t>x &lt;- 4*(3+5)^2</a:t>
            </a:r>
          </a:p>
          <a:p>
            <a:r>
              <a:rPr lang="es-ES" dirty="0"/>
              <a:t>x / </a:t>
            </a:r>
            <a:r>
              <a:rPr lang="es-ES" dirty="0" smtClean="0"/>
              <a:t>10</a:t>
            </a:r>
          </a:p>
          <a:p>
            <a:endParaRPr lang="es-ES" dirty="0"/>
          </a:p>
          <a:p>
            <a:r>
              <a:rPr lang="es-ES" dirty="0"/>
              <a:t>En R se puede operar sobre vectores igual que se opera sobre números. De hecho, en R, un número es un vector numérico de longitud </a:t>
            </a:r>
            <a:r>
              <a:rPr lang="es-ES" dirty="0" smtClean="0"/>
              <a:t>1.</a:t>
            </a:r>
          </a:p>
          <a:p>
            <a:r>
              <a:rPr lang="es-ES" dirty="0"/>
              <a:t>c(</a:t>
            </a:r>
            <a:r>
              <a:rPr lang="es-ES" dirty="0" err="1"/>
              <a:t>length</a:t>
            </a:r>
            <a:r>
              <a:rPr lang="es-ES" dirty="0"/>
              <a:t>(2), </a:t>
            </a:r>
            <a:r>
              <a:rPr lang="es-ES" dirty="0" err="1"/>
              <a:t>length</a:t>
            </a:r>
            <a:r>
              <a:rPr lang="es-ES" dirty="0"/>
              <a:t>(x))</a:t>
            </a:r>
            <a:endParaRPr lang="es-ES" dirty="0" smtClean="0"/>
          </a:p>
        </p:txBody>
      </p:sp>
    </p:spTree>
    <p:extLst>
      <p:ext uri="{BB962C8B-B14F-4D97-AF65-F5344CB8AC3E}">
        <p14:creationId xmlns:p14="http://schemas.microsoft.com/office/powerpoint/2010/main" val="36304703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Operaciones matemáticas y </a:t>
            </a:r>
            <a:r>
              <a:rPr lang="es-CL" dirty="0" err="1"/>
              <a:t>vectorización</a:t>
            </a:r>
            <a:endParaRPr lang="es-CL" dirty="0"/>
          </a:p>
        </p:txBody>
      </p:sp>
      <p:sp>
        <p:nvSpPr>
          <p:cNvPr id="3" name="Marcador de contenido 2"/>
          <p:cNvSpPr>
            <a:spLocks noGrp="1"/>
          </p:cNvSpPr>
          <p:nvPr>
            <p:ph idx="1"/>
          </p:nvPr>
        </p:nvSpPr>
        <p:spPr/>
        <p:txBody>
          <a:bodyPr/>
          <a:lstStyle/>
          <a:p>
            <a:r>
              <a:rPr lang="es-ES" dirty="0"/>
              <a:t>x &lt;- 1:10</a:t>
            </a:r>
          </a:p>
          <a:p>
            <a:r>
              <a:rPr lang="es-ES" dirty="0"/>
              <a:t>2*x</a:t>
            </a:r>
          </a:p>
          <a:p>
            <a:r>
              <a:rPr lang="es-ES" dirty="0"/>
              <a:t>2*x + 1</a:t>
            </a:r>
          </a:p>
          <a:p>
            <a:r>
              <a:rPr lang="es-ES" dirty="0"/>
              <a:t>x^2</a:t>
            </a:r>
          </a:p>
          <a:p>
            <a:r>
              <a:rPr lang="es-ES" dirty="0" smtClean="0"/>
              <a:t>x*x</a:t>
            </a:r>
          </a:p>
          <a:p>
            <a:endParaRPr lang="es-ES" dirty="0"/>
          </a:p>
          <a:p>
            <a:r>
              <a:rPr lang="es-ES" dirty="0" smtClean="0"/>
              <a:t>Las operaciones anteriores </a:t>
            </a:r>
            <a:r>
              <a:rPr lang="es-ES" dirty="0"/>
              <a:t>están </a:t>
            </a:r>
            <a:r>
              <a:rPr lang="es-ES" dirty="0" err="1"/>
              <a:t>vectorizadas</a:t>
            </a:r>
            <a:r>
              <a:rPr lang="es-ES" dirty="0"/>
              <a:t>, </a:t>
            </a:r>
            <a:r>
              <a:rPr lang="es-ES" dirty="0" smtClean="0"/>
              <a:t>admiten </a:t>
            </a:r>
            <a:r>
              <a:rPr lang="es-ES" dirty="0"/>
              <a:t>un vector como argumento y operan sobre cada uno de los elementos. </a:t>
            </a:r>
            <a:endParaRPr lang="es-ES" dirty="0" smtClean="0"/>
          </a:p>
          <a:p>
            <a:r>
              <a:rPr lang="es-ES" dirty="0" smtClean="0"/>
              <a:t>Generalmente</a:t>
            </a:r>
            <a:r>
              <a:rPr lang="es-ES" dirty="0"/>
              <a:t>, las operaciones </a:t>
            </a:r>
            <a:r>
              <a:rPr lang="es-ES" dirty="0" err="1"/>
              <a:t>vectorizadas</a:t>
            </a:r>
            <a:r>
              <a:rPr lang="es-ES" dirty="0"/>
              <a:t> son muy rápidas en R. </a:t>
            </a:r>
            <a:endParaRPr lang="es-ES" dirty="0" smtClean="0"/>
          </a:p>
        </p:txBody>
      </p:sp>
    </p:spTree>
    <p:extLst>
      <p:ext uri="{BB962C8B-B14F-4D97-AF65-F5344CB8AC3E}">
        <p14:creationId xmlns:p14="http://schemas.microsoft.com/office/powerpoint/2010/main" val="140018252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Ejercicio 04</a:t>
            </a:r>
            <a:endParaRPr lang="es-CL" dirty="0"/>
          </a:p>
        </p:txBody>
      </p:sp>
      <p:sp>
        <p:nvSpPr>
          <p:cNvPr id="3" name="Marcador de contenido 2"/>
          <p:cNvSpPr>
            <a:spLocks noGrp="1"/>
          </p:cNvSpPr>
          <p:nvPr>
            <p:ph idx="1"/>
          </p:nvPr>
        </p:nvSpPr>
        <p:spPr/>
        <p:txBody>
          <a:bodyPr/>
          <a:lstStyle/>
          <a:p>
            <a:r>
              <a:rPr lang="es-ES" dirty="0"/>
              <a:t> </a:t>
            </a:r>
            <a:r>
              <a:rPr lang="es-ES" dirty="0"/>
              <a:t>Si x &lt;- 1:10 e y &lt;- 1:2, ¿cuánto vale x * y? ¿Qué pasa si y &lt;- 1:3</a:t>
            </a:r>
            <a:r>
              <a:rPr lang="es-ES" dirty="0" smtClean="0"/>
              <a:t>?</a:t>
            </a:r>
          </a:p>
          <a:p>
            <a:r>
              <a:rPr lang="es-ES" dirty="0"/>
              <a:t>Códigos utilizados: https://pastebin.com/y81Avf8D</a:t>
            </a:r>
            <a:endParaRPr lang="es-ES" dirty="0" smtClean="0"/>
          </a:p>
        </p:txBody>
      </p:sp>
    </p:spTree>
    <p:extLst>
      <p:ext uri="{BB962C8B-B14F-4D97-AF65-F5344CB8AC3E}">
        <p14:creationId xmlns:p14="http://schemas.microsoft.com/office/powerpoint/2010/main" val="27926326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Digresión: creación de funciones</a:t>
            </a:r>
          </a:p>
        </p:txBody>
      </p:sp>
      <p:sp>
        <p:nvSpPr>
          <p:cNvPr id="3" name="Marcador de contenido 2"/>
          <p:cNvSpPr>
            <a:spLocks noGrp="1"/>
          </p:cNvSpPr>
          <p:nvPr>
            <p:ph idx="1"/>
          </p:nvPr>
        </p:nvSpPr>
        <p:spPr/>
        <p:txBody>
          <a:bodyPr/>
          <a:lstStyle/>
          <a:p>
            <a:r>
              <a:rPr lang="es-ES" dirty="0"/>
              <a:t>En R hay miles de funciones que pueden aplicarse a un vector. </a:t>
            </a:r>
            <a:endParaRPr lang="es-ES" dirty="0" smtClean="0"/>
          </a:p>
          <a:p>
            <a:r>
              <a:rPr lang="es-ES" dirty="0" smtClean="0"/>
              <a:t>Las más </a:t>
            </a:r>
            <a:r>
              <a:rPr lang="es-ES" dirty="0"/>
              <a:t>comunes que pueden aplicarse a vectores </a:t>
            </a:r>
            <a:r>
              <a:rPr lang="es-ES" dirty="0" err="1"/>
              <a:t>númericos</a:t>
            </a:r>
            <a:r>
              <a:rPr lang="es-ES" dirty="0"/>
              <a:t> son</a:t>
            </a:r>
            <a:r>
              <a:rPr lang="es-ES" dirty="0" smtClean="0"/>
              <a:t>:</a:t>
            </a:r>
          </a:p>
          <a:p>
            <a:r>
              <a:rPr lang="es-ES" dirty="0" err="1"/>
              <a:t>fivenum</a:t>
            </a:r>
            <a:r>
              <a:rPr lang="es-ES" dirty="0"/>
              <a:t>(x)   # los "cinco números característicos" de un vector</a:t>
            </a:r>
          </a:p>
          <a:p>
            <a:r>
              <a:rPr lang="es-ES" dirty="0"/>
              <a:t>mean(x)</a:t>
            </a:r>
          </a:p>
          <a:p>
            <a:r>
              <a:rPr lang="es-ES" dirty="0" err="1"/>
              <a:t>max</a:t>
            </a:r>
            <a:r>
              <a:rPr lang="es-ES" dirty="0"/>
              <a:t>(x)</a:t>
            </a:r>
          </a:p>
          <a:p>
            <a:r>
              <a:rPr lang="es-ES" dirty="0"/>
              <a:t>median(x)</a:t>
            </a:r>
          </a:p>
          <a:p>
            <a:r>
              <a:rPr lang="es-ES" dirty="0"/>
              <a:t>sum(x)</a:t>
            </a:r>
          </a:p>
          <a:p>
            <a:r>
              <a:rPr lang="es-ES" dirty="0" err="1"/>
              <a:t>prod</a:t>
            </a:r>
            <a:r>
              <a:rPr lang="es-ES" dirty="0"/>
              <a:t>(x)</a:t>
            </a:r>
            <a:endParaRPr lang="es-ES" dirty="0" smtClean="0"/>
          </a:p>
        </p:txBody>
      </p:sp>
    </p:spTree>
    <p:extLst>
      <p:ext uri="{BB962C8B-B14F-4D97-AF65-F5344CB8AC3E}">
        <p14:creationId xmlns:p14="http://schemas.microsoft.com/office/powerpoint/2010/main" val="213380944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Digresión: creación de funciones</a:t>
            </a:r>
          </a:p>
        </p:txBody>
      </p:sp>
      <p:sp>
        <p:nvSpPr>
          <p:cNvPr id="3" name="Marcador de contenido 2"/>
          <p:cNvSpPr>
            <a:spLocks noGrp="1"/>
          </p:cNvSpPr>
          <p:nvPr>
            <p:ph idx="1"/>
          </p:nvPr>
        </p:nvSpPr>
        <p:spPr/>
        <p:txBody>
          <a:bodyPr/>
          <a:lstStyle/>
          <a:p>
            <a:r>
              <a:rPr lang="es-ES" dirty="0" smtClean="0"/>
              <a:t>En R no existe una función que sume los cuadrados de un número.</a:t>
            </a:r>
          </a:p>
          <a:p>
            <a:r>
              <a:rPr lang="es-ES" dirty="0" smtClean="0"/>
              <a:t>Sin embargo esta se puede solucionar de la siguiente manera:</a:t>
            </a:r>
          </a:p>
          <a:p>
            <a:r>
              <a:rPr lang="es-ES" dirty="0"/>
              <a:t>x &lt;- 1:10</a:t>
            </a:r>
          </a:p>
          <a:p>
            <a:r>
              <a:rPr lang="es-ES" dirty="0" err="1"/>
              <a:t>suma_cuadrados</a:t>
            </a:r>
            <a:r>
              <a:rPr lang="es-ES" dirty="0"/>
              <a:t> &lt;- </a:t>
            </a:r>
            <a:r>
              <a:rPr lang="es-ES" dirty="0" err="1"/>
              <a:t>function</a:t>
            </a:r>
            <a:r>
              <a:rPr lang="es-ES" dirty="0"/>
              <a:t>(x) sum(x*x)</a:t>
            </a:r>
          </a:p>
          <a:p>
            <a:r>
              <a:rPr lang="es-ES" dirty="0" err="1"/>
              <a:t>suma_cuadrados</a:t>
            </a:r>
            <a:r>
              <a:rPr lang="es-ES" dirty="0"/>
              <a:t>(x)</a:t>
            </a:r>
            <a:endParaRPr lang="es-ES" dirty="0" smtClean="0"/>
          </a:p>
        </p:txBody>
      </p:sp>
    </p:spTree>
    <p:extLst>
      <p:ext uri="{BB962C8B-B14F-4D97-AF65-F5344CB8AC3E}">
        <p14:creationId xmlns:p14="http://schemas.microsoft.com/office/powerpoint/2010/main" val="4580560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Digresión: creación de funciones</a:t>
            </a:r>
          </a:p>
        </p:txBody>
      </p:sp>
      <p:sp>
        <p:nvSpPr>
          <p:cNvPr id="3" name="Marcador de contenido 2"/>
          <p:cNvSpPr>
            <a:spLocks noGrp="1"/>
          </p:cNvSpPr>
          <p:nvPr>
            <p:ph idx="1"/>
          </p:nvPr>
        </p:nvSpPr>
        <p:spPr/>
        <p:txBody>
          <a:bodyPr/>
          <a:lstStyle/>
          <a:p>
            <a:r>
              <a:rPr lang="es-ES" dirty="0" smtClean="0"/>
              <a:t>Creación de funciones más complejas:</a:t>
            </a:r>
          </a:p>
          <a:p>
            <a:pPr marL="0" indent="0">
              <a:buNone/>
            </a:pPr>
            <a:r>
              <a:rPr lang="es-ES" dirty="0"/>
              <a:t>media &lt;- </a:t>
            </a:r>
            <a:r>
              <a:rPr lang="es-ES" dirty="0" err="1"/>
              <a:t>function</a:t>
            </a:r>
            <a:r>
              <a:rPr lang="es-ES" dirty="0"/>
              <a:t>(x){</a:t>
            </a:r>
          </a:p>
          <a:p>
            <a:pPr marL="0" indent="0">
              <a:buNone/>
            </a:pPr>
            <a:r>
              <a:rPr lang="es-ES" dirty="0"/>
              <a:t> longitud &lt;- </a:t>
            </a:r>
            <a:r>
              <a:rPr lang="es-ES" dirty="0" err="1"/>
              <a:t>length</a:t>
            </a:r>
            <a:r>
              <a:rPr lang="es-ES" dirty="0"/>
              <a:t>(x)</a:t>
            </a:r>
          </a:p>
          <a:p>
            <a:pPr marL="0" indent="0">
              <a:buNone/>
            </a:pPr>
            <a:r>
              <a:rPr lang="es-ES" dirty="0"/>
              <a:t> suma &lt;- sum(x)</a:t>
            </a:r>
          </a:p>
          <a:p>
            <a:pPr marL="0" indent="0">
              <a:buNone/>
            </a:pPr>
            <a:r>
              <a:rPr lang="es-ES" dirty="0"/>
              <a:t> suma / longitud</a:t>
            </a:r>
          </a:p>
          <a:p>
            <a:pPr marL="0" indent="0">
              <a:buNone/>
            </a:pPr>
            <a:r>
              <a:rPr lang="es-ES" dirty="0"/>
              <a:t>}</a:t>
            </a:r>
            <a:endParaRPr lang="es-ES" dirty="0" smtClean="0"/>
          </a:p>
        </p:txBody>
      </p:sp>
    </p:spTree>
    <p:extLst>
      <p:ext uri="{BB962C8B-B14F-4D97-AF65-F5344CB8AC3E}">
        <p14:creationId xmlns:p14="http://schemas.microsoft.com/office/powerpoint/2010/main" val="285907122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err="1" smtClean="0"/>
              <a:t>tapply</a:t>
            </a:r>
            <a:endParaRPr lang="es-CL" dirty="0"/>
          </a:p>
        </p:txBody>
      </p:sp>
      <p:sp>
        <p:nvSpPr>
          <p:cNvPr id="3" name="Marcador de contenido 2"/>
          <p:cNvSpPr>
            <a:spLocks noGrp="1"/>
          </p:cNvSpPr>
          <p:nvPr>
            <p:ph idx="1"/>
          </p:nvPr>
        </p:nvSpPr>
        <p:spPr/>
        <p:txBody>
          <a:bodyPr/>
          <a:lstStyle/>
          <a:p>
            <a:r>
              <a:rPr lang="es-ES" dirty="0"/>
              <a:t>La función </a:t>
            </a:r>
            <a:r>
              <a:rPr lang="es-ES" dirty="0" err="1" smtClean="0"/>
              <a:t>tapply</a:t>
            </a:r>
            <a:r>
              <a:rPr lang="es-ES" dirty="0" smtClean="0"/>
              <a:t> </a:t>
            </a:r>
            <a:r>
              <a:rPr lang="es-ES" dirty="0"/>
              <a:t>una función a un vector en los </a:t>
            </a:r>
            <a:r>
              <a:rPr lang="es-ES" dirty="0" err="1"/>
              <a:t>subvectores</a:t>
            </a:r>
            <a:r>
              <a:rPr lang="es-ES" dirty="0"/>
              <a:t> que define otro vector </a:t>
            </a:r>
            <a:r>
              <a:rPr lang="es-ES" dirty="0" smtClean="0"/>
              <a:t>máscara.</a:t>
            </a:r>
          </a:p>
          <a:p>
            <a:r>
              <a:rPr lang="es-ES" b="1" dirty="0" err="1"/>
              <a:t>tapply</a:t>
            </a:r>
            <a:r>
              <a:rPr lang="es-ES" b="1" dirty="0"/>
              <a:t>(</a:t>
            </a:r>
            <a:r>
              <a:rPr lang="es-ES" b="1" dirty="0" err="1"/>
              <a:t>iris$Petal.Length</a:t>
            </a:r>
            <a:r>
              <a:rPr lang="es-ES" b="1" dirty="0"/>
              <a:t>, </a:t>
            </a:r>
            <a:r>
              <a:rPr lang="es-ES" b="1" dirty="0" err="1"/>
              <a:t>iris$Species</a:t>
            </a:r>
            <a:r>
              <a:rPr lang="es-ES" b="1" dirty="0"/>
              <a:t>, mean</a:t>
            </a:r>
            <a:r>
              <a:rPr lang="es-ES" b="1" dirty="0" smtClean="0"/>
              <a:t>)</a:t>
            </a:r>
          </a:p>
          <a:p>
            <a:r>
              <a:rPr lang="es-ES" dirty="0" err="1"/>
              <a:t>tapply</a:t>
            </a:r>
            <a:r>
              <a:rPr lang="es-ES" dirty="0"/>
              <a:t> aplica la función mean a un vector, la longitud del pétalo, pero de especie en </a:t>
            </a:r>
            <a:r>
              <a:rPr lang="es-ES" dirty="0" smtClean="0"/>
              <a:t>especie.</a:t>
            </a:r>
          </a:p>
          <a:p>
            <a:r>
              <a:rPr lang="es-ES" dirty="0" smtClean="0"/>
              <a:t>Responde </a:t>
            </a:r>
            <a:r>
              <a:rPr lang="es-ES" dirty="0"/>
              <a:t>por tanto a la pregunta de cuál es la media de la longitud del pétalo por </a:t>
            </a:r>
            <a:r>
              <a:rPr lang="es-ES" dirty="0" smtClean="0"/>
              <a:t>especie.</a:t>
            </a:r>
          </a:p>
          <a:p>
            <a:r>
              <a:rPr lang="es-ES" dirty="0" smtClean="0"/>
              <a:t>Es </a:t>
            </a:r>
            <a:r>
              <a:rPr lang="es-ES" dirty="0"/>
              <a:t>una operación similar a la conocida en SQL como </a:t>
            </a:r>
            <a:r>
              <a:rPr lang="es-ES" dirty="0" err="1"/>
              <a:t>group</a:t>
            </a:r>
            <a:r>
              <a:rPr lang="es-ES" dirty="0"/>
              <a:t> </a:t>
            </a:r>
            <a:r>
              <a:rPr lang="es-ES" dirty="0" err="1"/>
              <a:t>by</a:t>
            </a:r>
            <a:endParaRPr lang="es-ES" dirty="0" smtClean="0"/>
          </a:p>
        </p:txBody>
      </p:sp>
    </p:spTree>
    <p:extLst>
      <p:ext uri="{BB962C8B-B14F-4D97-AF65-F5344CB8AC3E}">
        <p14:creationId xmlns:p14="http://schemas.microsoft.com/office/powerpoint/2010/main" val="19896250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err="1" smtClean="0"/>
              <a:t>tapply</a:t>
            </a:r>
            <a:endParaRPr lang="es-CL" dirty="0"/>
          </a:p>
        </p:txBody>
      </p:sp>
      <p:sp>
        <p:nvSpPr>
          <p:cNvPr id="3" name="Marcador de contenido 2"/>
          <p:cNvSpPr>
            <a:spLocks noGrp="1"/>
          </p:cNvSpPr>
          <p:nvPr>
            <p:ph idx="1"/>
          </p:nvPr>
        </p:nvSpPr>
        <p:spPr/>
        <p:txBody>
          <a:bodyPr/>
          <a:lstStyle/>
          <a:p>
            <a:r>
              <a:rPr lang="es-ES" dirty="0" err="1"/>
              <a:t>tapply</a:t>
            </a:r>
            <a:r>
              <a:rPr lang="es-ES" dirty="0"/>
              <a:t> es una de las llamadas funciones de orden superior porque acepta como argumento otra función (mean en el caso anterior</a:t>
            </a:r>
            <a:r>
              <a:rPr lang="es-ES" dirty="0" smtClean="0"/>
              <a:t>).</a:t>
            </a:r>
          </a:p>
          <a:p>
            <a:r>
              <a:rPr lang="es-ES" dirty="0" smtClean="0"/>
              <a:t>Las </a:t>
            </a:r>
            <a:r>
              <a:rPr lang="es-ES" dirty="0"/>
              <a:t>funciones a las que llaman tanto </a:t>
            </a:r>
            <a:r>
              <a:rPr lang="es-ES" dirty="0" err="1"/>
              <a:t>tapply</a:t>
            </a:r>
            <a:r>
              <a:rPr lang="es-ES" dirty="0"/>
              <a:t> como el resto de las funciones de orden superior pueden tener parámetros </a:t>
            </a:r>
            <a:r>
              <a:rPr lang="es-ES" dirty="0" smtClean="0"/>
              <a:t>adicionales.</a:t>
            </a:r>
          </a:p>
          <a:p>
            <a:r>
              <a:rPr lang="es-ES" dirty="0" smtClean="0"/>
              <a:t>Por </a:t>
            </a:r>
            <a:r>
              <a:rPr lang="es-ES" dirty="0"/>
              <a:t>ejemplo, si el vector sobre el que se quiere calcular la media contiene NA, el resultado es NA. Pero mean admite el parámetro opcional na.rm = TRUE para ignorar los nulos</a:t>
            </a:r>
            <a:r>
              <a:rPr lang="es-ES" dirty="0" smtClean="0"/>
              <a:t>.</a:t>
            </a:r>
          </a:p>
          <a:p>
            <a:r>
              <a:rPr lang="en-US" b="1" dirty="0" err="1"/>
              <a:t>tapply</a:t>
            </a:r>
            <a:r>
              <a:rPr lang="en-US" b="1" dirty="0"/>
              <a:t>(</a:t>
            </a:r>
            <a:r>
              <a:rPr lang="en-US" b="1" dirty="0" err="1"/>
              <a:t>iris$Petal.Length</a:t>
            </a:r>
            <a:r>
              <a:rPr lang="en-US" b="1" dirty="0"/>
              <a:t>, </a:t>
            </a:r>
            <a:r>
              <a:rPr lang="en-US" b="1" dirty="0" err="1"/>
              <a:t>iris$Species</a:t>
            </a:r>
            <a:r>
              <a:rPr lang="en-US" b="1" dirty="0"/>
              <a:t>, mean, na.rm = TRUE)</a:t>
            </a:r>
            <a:endParaRPr lang="es-ES" b="1" dirty="0" smtClean="0"/>
          </a:p>
        </p:txBody>
      </p:sp>
    </p:spTree>
    <p:extLst>
      <p:ext uri="{BB962C8B-B14F-4D97-AF65-F5344CB8AC3E}">
        <p14:creationId xmlns:p14="http://schemas.microsoft.com/office/powerpoint/2010/main" val="287998613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Test de </a:t>
            </a:r>
            <a:r>
              <a:rPr lang="es-CL" dirty="0" err="1" smtClean="0"/>
              <a:t>Student</a:t>
            </a:r>
            <a:endParaRPr lang="es-CL" dirty="0"/>
          </a:p>
        </p:txBody>
      </p:sp>
      <p:sp>
        <p:nvSpPr>
          <p:cNvPr id="3" name="Marcador de contenido 2"/>
          <p:cNvSpPr>
            <a:spLocks noGrp="1"/>
          </p:cNvSpPr>
          <p:nvPr>
            <p:ph idx="1"/>
          </p:nvPr>
        </p:nvSpPr>
        <p:spPr/>
        <p:txBody>
          <a:bodyPr/>
          <a:lstStyle/>
          <a:p>
            <a:r>
              <a:rPr lang="es-ES" dirty="0"/>
              <a:t>El test de </a:t>
            </a:r>
            <a:r>
              <a:rPr lang="es-ES" dirty="0" err="1"/>
              <a:t>Student</a:t>
            </a:r>
            <a:r>
              <a:rPr lang="es-ES" dirty="0"/>
              <a:t> es la contraparte estadística al diagrama de </a:t>
            </a:r>
            <a:r>
              <a:rPr lang="es-ES" dirty="0" smtClean="0"/>
              <a:t>cajas.</a:t>
            </a:r>
          </a:p>
          <a:p>
            <a:r>
              <a:rPr lang="es-ES" dirty="0" smtClean="0"/>
              <a:t>Si </a:t>
            </a:r>
            <a:r>
              <a:rPr lang="es-ES" dirty="0"/>
              <a:t>estos permiten comparar gráficamente, </a:t>
            </a:r>
            <a:r>
              <a:rPr lang="es-ES" dirty="0" smtClean="0"/>
              <a:t>cualitativamente</a:t>
            </a:r>
            <a:r>
              <a:rPr lang="es-ES" dirty="0"/>
              <a:t>, dos (o más) distribuciones, el test de </a:t>
            </a:r>
            <a:r>
              <a:rPr lang="es-ES" dirty="0" err="1"/>
              <a:t>Student</a:t>
            </a:r>
            <a:r>
              <a:rPr lang="es-ES" dirty="0"/>
              <a:t> permite cuantificar de alguna manera esa diferencia</a:t>
            </a:r>
            <a:r>
              <a:rPr lang="es-ES" dirty="0" smtClean="0"/>
              <a:t>.</a:t>
            </a:r>
          </a:p>
          <a:p>
            <a:r>
              <a:rPr lang="es-ES" dirty="0" err="1"/>
              <a:t>summary</a:t>
            </a:r>
            <a:r>
              <a:rPr lang="es-ES" dirty="0"/>
              <a:t>(</a:t>
            </a:r>
            <a:r>
              <a:rPr lang="es-ES" dirty="0" err="1"/>
              <a:t>sleep</a:t>
            </a:r>
            <a:r>
              <a:rPr lang="es-ES" dirty="0" smtClean="0"/>
              <a:t>)</a:t>
            </a:r>
          </a:p>
          <a:p>
            <a:r>
              <a:rPr lang="es-ES" dirty="0" err="1"/>
              <a:t>sleep</a:t>
            </a:r>
            <a:r>
              <a:rPr lang="es-ES" dirty="0"/>
              <a:t> contiene información sobre el número adicional de horas que durmieron una serie de sujetos después de recibir un determinado tratamiento </a:t>
            </a:r>
            <a:r>
              <a:rPr lang="es-ES" dirty="0" smtClean="0"/>
              <a:t>médico.</a:t>
            </a:r>
          </a:p>
          <a:p>
            <a:r>
              <a:rPr lang="es-ES" dirty="0" smtClean="0"/>
              <a:t>Los </a:t>
            </a:r>
            <a:r>
              <a:rPr lang="es-ES" dirty="0"/>
              <a:t>vamos a comparar con otros sujetos, los del grupo de control, que recibieron un placebo.</a:t>
            </a:r>
            <a:endParaRPr lang="es-ES" dirty="0" smtClean="0"/>
          </a:p>
        </p:txBody>
      </p:sp>
    </p:spTree>
    <p:extLst>
      <p:ext uri="{BB962C8B-B14F-4D97-AF65-F5344CB8AC3E}">
        <p14:creationId xmlns:p14="http://schemas.microsoft.com/office/powerpoint/2010/main" val="382021405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Test de </a:t>
            </a:r>
            <a:r>
              <a:rPr lang="es-CL" dirty="0" err="1" smtClean="0"/>
              <a:t>Student</a:t>
            </a:r>
            <a:endParaRPr lang="es-CL" dirty="0"/>
          </a:p>
        </p:txBody>
      </p:sp>
      <p:sp>
        <p:nvSpPr>
          <p:cNvPr id="3" name="Marcador de contenido 2"/>
          <p:cNvSpPr>
            <a:spLocks noGrp="1"/>
          </p:cNvSpPr>
          <p:nvPr>
            <p:ph idx="1"/>
          </p:nvPr>
        </p:nvSpPr>
        <p:spPr/>
        <p:txBody>
          <a:bodyPr/>
          <a:lstStyle/>
          <a:p>
            <a:r>
              <a:rPr lang="es-ES" dirty="0" err="1"/>
              <a:t>boxplot</a:t>
            </a:r>
            <a:r>
              <a:rPr lang="es-ES" dirty="0"/>
              <a:t>(</a:t>
            </a:r>
            <a:r>
              <a:rPr lang="es-ES" dirty="0" err="1"/>
              <a:t>sleep$extra</a:t>
            </a:r>
            <a:r>
              <a:rPr lang="es-ES" dirty="0"/>
              <a:t> ~ </a:t>
            </a:r>
            <a:r>
              <a:rPr lang="es-ES" dirty="0" err="1"/>
              <a:t>sleep$group</a:t>
            </a:r>
            <a:r>
              <a:rPr lang="es-ES" dirty="0"/>
              <a:t>, col = "gray</a:t>
            </a:r>
            <a:r>
              <a:rPr lang="es-ES" dirty="0" smtClean="0"/>
              <a:t>", </a:t>
            </a:r>
            <a:r>
              <a:rPr lang="es-ES" dirty="0" err="1" smtClean="0"/>
              <a:t>main</a:t>
            </a:r>
            <a:r>
              <a:rPr lang="es-ES" dirty="0" smtClean="0"/>
              <a:t> </a:t>
            </a:r>
            <a:r>
              <a:rPr lang="es-ES" dirty="0"/>
              <a:t>= "Diferencias por grupo")</a:t>
            </a:r>
            <a:endParaRPr lang="es-ES" dirty="0" smtClean="0"/>
          </a:p>
        </p:txBody>
      </p:sp>
      <p:pic>
        <p:nvPicPr>
          <p:cNvPr id="4" name="Imagen 3"/>
          <p:cNvPicPr>
            <a:picLocks noChangeAspect="1"/>
          </p:cNvPicPr>
          <p:nvPr/>
        </p:nvPicPr>
        <p:blipFill>
          <a:blip r:embed="rId2"/>
          <a:stretch>
            <a:fillRect/>
          </a:stretch>
        </p:blipFill>
        <p:spPr>
          <a:xfrm>
            <a:off x="3253660" y="3228974"/>
            <a:ext cx="5581650" cy="3019425"/>
          </a:xfrm>
          <a:prstGeom prst="rect">
            <a:avLst/>
          </a:prstGeom>
        </p:spPr>
      </p:pic>
    </p:spTree>
    <p:extLst>
      <p:ext uri="{BB962C8B-B14F-4D97-AF65-F5344CB8AC3E}">
        <p14:creationId xmlns:p14="http://schemas.microsoft.com/office/powerpoint/2010/main" val="72063318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Test de </a:t>
            </a:r>
            <a:r>
              <a:rPr lang="es-CL" dirty="0" err="1" smtClean="0"/>
              <a:t>Student</a:t>
            </a:r>
            <a:endParaRPr lang="es-CL" dirty="0"/>
          </a:p>
        </p:txBody>
      </p:sp>
      <p:sp>
        <p:nvSpPr>
          <p:cNvPr id="3" name="Marcador de contenido 2"/>
          <p:cNvSpPr>
            <a:spLocks noGrp="1"/>
          </p:cNvSpPr>
          <p:nvPr>
            <p:ph sz="half" idx="1"/>
          </p:nvPr>
        </p:nvSpPr>
        <p:spPr/>
        <p:txBody>
          <a:bodyPr/>
          <a:lstStyle/>
          <a:p>
            <a:r>
              <a:rPr lang="es-ES" dirty="0"/>
              <a:t>Este gráfico muestra cómo el grupo tratado, el de la derecha, tiende a dormir más </a:t>
            </a:r>
            <a:r>
              <a:rPr lang="es-ES" dirty="0" smtClean="0"/>
              <a:t>horas.</a:t>
            </a:r>
          </a:p>
          <a:p>
            <a:r>
              <a:rPr lang="es-ES" dirty="0" smtClean="0"/>
              <a:t>Pero </a:t>
            </a:r>
            <a:r>
              <a:rPr lang="es-ES" dirty="0"/>
              <a:t>no responde </a:t>
            </a:r>
            <a:r>
              <a:rPr lang="es-ES" dirty="0" smtClean="0"/>
              <a:t>a </a:t>
            </a:r>
            <a:r>
              <a:rPr lang="es-ES" dirty="0"/>
              <a:t>la pregunta de si el tratamiento funciona o </a:t>
            </a:r>
            <a:r>
              <a:rPr lang="es-ES" dirty="0" smtClean="0"/>
              <a:t>no.</a:t>
            </a:r>
          </a:p>
          <a:p>
            <a:r>
              <a:rPr lang="es-ES" dirty="0" smtClean="0"/>
              <a:t>El </a:t>
            </a:r>
            <a:r>
              <a:rPr lang="es-ES" dirty="0"/>
              <a:t>llamado test de </a:t>
            </a:r>
            <a:r>
              <a:rPr lang="es-ES" dirty="0" err="1"/>
              <a:t>Student</a:t>
            </a:r>
            <a:r>
              <a:rPr lang="es-ES" dirty="0"/>
              <a:t> ayuda a determinar si la diferencia observada es o no estadísticamente significativa.</a:t>
            </a:r>
            <a:endParaRPr lang="es-ES" dirty="0" smtClean="0"/>
          </a:p>
        </p:txBody>
      </p:sp>
      <p:pic>
        <p:nvPicPr>
          <p:cNvPr id="6" name="Marcador de contenido 5"/>
          <p:cNvPicPr>
            <a:picLocks noGrp="1" noChangeAspect="1"/>
          </p:cNvPicPr>
          <p:nvPr>
            <p:ph sz="half" idx="2"/>
          </p:nvPr>
        </p:nvPicPr>
        <p:blipFill>
          <a:blip r:embed="rId2"/>
          <a:stretch>
            <a:fillRect/>
          </a:stretch>
        </p:blipFill>
        <p:spPr>
          <a:xfrm>
            <a:off x="5654675" y="2967051"/>
            <a:ext cx="4395788" cy="2378049"/>
          </a:xfrm>
          <a:prstGeom prst="rect">
            <a:avLst/>
          </a:prstGeom>
        </p:spPr>
      </p:pic>
    </p:spTree>
    <p:extLst>
      <p:ext uri="{BB962C8B-B14F-4D97-AF65-F5344CB8AC3E}">
        <p14:creationId xmlns:p14="http://schemas.microsoft.com/office/powerpoint/2010/main" val="76139592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Test de </a:t>
            </a:r>
            <a:r>
              <a:rPr lang="es-CL" dirty="0" err="1" smtClean="0"/>
              <a:t>Student</a:t>
            </a:r>
            <a:endParaRPr lang="es-CL" dirty="0"/>
          </a:p>
        </p:txBody>
      </p:sp>
      <p:sp>
        <p:nvSpPr>
          <p:cNvPr id="3" name="Marcador de contenido 2"/>
          <p:cNvSpPr>
            <a:spLocks noGrp="1"/>
          </p:cNvSpPr>
          <p:nvPr>
            <p:ph idx="1"/>
          </p:nvPr>
        </p:nvSpPr>
        <p:spPr/>
        <p:txBody>
          <a:bodyPr/>
          <a:lstStyle/>
          <a:p>
            <a:r>
              <a:rPr lang="es-ES" dirty="0" err="1"/>
              <a:t>t.test</a:t>
            </a:r>
            <a:r>
              <a:rPr lang="es-ES" dirty="0"/>
              <a:t>(</a:t>
            </a:r>
            <a:r>
              <a:rPr lang="es-ES" dirty="0" err="1"/>
              <a:t>sleep$extra</a:t>
            </a:r>
            <a:r>
              <a:rPr lang="es-ES" dirty="0"/>
              <a:t> ~ </a:t>
            </a:r>
            <a:r>
              <a:rPr lang="es-ES" dirty="0" err="1"/>
              <a:t>sleep$group</a:t>
            </a:r>
            <a:r>
              <a:rPr lang="es-ES" dirty="0"/>
              <a:t>)</a:t>
            </a:r>
            <a:endParaRPr lang="es-ES" dirty="0" smtClean="0"/>
          </a:p>
        </p:txBody>
      </p:sp>
      <p:pic>
        <p:nvPicPr>
          <p:cNvPr id="8" name="Marcador de contenido 4"/>
          <p:cNvPicPr>
            <a:picLocks noChangeAspect="1"/>
          </p:cNvPicPr>
          <p:nvPr/>
        </p:nvPicPr>
        <p:blipFill>
          <a:blip r:embed="rId2"/>
          <a:stretch>
            <a:fillRect/>
          </a:stretch>
        </p:blipFill>
        <p:spPr>
          <a:xfrm>
            <a:off x="2125864" y="3129566"/>
            <a:ext cx="7699642" cy="2536044"/>
          </a:xfrm>
          <a:prstGeom prst="rect">
            <a:avLst/>
          </a:prstGeom>
        </p:spPr>
      </p:pic>
    </p:spTree>
    <p:extLst>
      <p:ext uri="{BB962C8B-B14F-4D97-AF65-F5344CB8AC3E}">
        <p14:creationId xmlns:p14="http://schemas.microsoft.com/office/powerpoint/2010/main" val="339611641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Test de </a:t>
            </a:r>
            <a:r>
              <a:rPr lang="es-CL" dirty="0" err="1" smtClean="0"/>
              <a:t>Student</a:t>
            </a:r>
            <a:endParaRPr lang="es-CL" dirty="0"/>
          </a:p>
        </p:txBody>
      </p:sp>
      <p:sp>
        <p:nvSpPr>
          <p:cNvPr id="3" name="Marcador de contenido 2"/>
          <p:cNvSpPr>
            <a:spLocks noGrp="1"/>
          </p:cNvSpPr>
          <p:nvPr>
            <p:ph idx="1"/>
          </p:nvPr>
        </p:nvSpPr>
        <p:spPr/>
        <p:txBody>
          <a:bodyPr/>
          <a:lstStyle/>
          <a:p>
            <a:r>
              <a:rPr lang="es-ES" dirty="0"/>
              <a:t>La salida de la expresión anterior es la que normalmente reproducen los artículos científicos cuando se aplica esta </a:t>
            </a:r>
            <a:r>
              <a:rPr lang="es-ES" dirty="0" smtClean="0"/>
              <a:t>técnica.</a:t>
            </a:r>
          </a:p>
          <a:p>
            <a:r>
              <a:rPr lang="es-ES" dirty="0" smtClean="0"/>
              <a:t>El </a:t>
            </a:r>
            <a:r>
              <a:rPr lang="es-ES" dirty="0"/>
              <a:t>indicador más importante (aunque cada vez más cuestionado) es el llamado p-valor y una regla de decisión habitual es dar por </a:t>
            </a:r>
            <a:r>
              <a:rPr lang="es-ES" dirty="0" err="1"/>
              <a:t>estadísticamnete</a:t>
            </a:r>
            <a:r>
              <a:rPr lang="es-ES" dirty="0"/>
              <a:t> significativo el efecto del tratamiento cuando este es inferior a </a:t>
            </a:r>
            <a:r>
              <a:rPr lang="es-ES" dirty="0" smtClean="0"/>
              <a:t>0.05.</a:t>
            </a:r>
          </a:p>
          <a:p>
            <a:r>
              <a:rPr lang="es-ES" dirty="0" smtClean="0"/>
              <a:t>En </a:t>
            </a:r>
            <a:r>
              <a:rPr lang="es-ES" dirty="0"/>
              <a:t>este caso, el p-valor es de 0.07 por lo que se consideraría que no existe diferencia significativa entre los grupos.</a:t>
            </a:r>
            <a:endParaRPr lang="es-ES" dirty="0" smtClean="0"/>
          </a:p>
        </p:txBody>
      </p:sp>
    </p:spTree>
    <p:extLst>
      <p:ext uri="{BB962C8B-B14F-4D97-AF65-F5344CB8AC3E}">
        <p14:creationId xmlns:p14="http://schemas.microsoft.com/office/powerpoint/2010/main" val="150432912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Regresión lineal</a:t>
            </a:r>
            <a:endParaRPr lang="es-CL" dirty="0"/>
          </a:p>
        </p:txBody>
      </p:sp>
      <p:sp>
        <p:nvSpPr>
          <p:cNvPr id="3" name="Marcador de contenido 2"/>
          <p:cNvSpPr>
            <a:spLocks noGrp="1"/>
          </p:cNvSpPr>
          <p:nvPr>
            <p:ph idx="1"/>
          </p:nvPr>
        </p:nvSpPr>
        <p:spPr/>
        <p:txBody>
          <a:bodyPr/>
          <a:lstStyle/>
          <a:p>
            <a:r>
              <a:rPr lang="es-ES" dirty="0"/>
              <a:t>La regresión lineal expresa la relación entre una variable numérica con otras variables </a:t>
            </a:r>
            <a:r>
              <a:rPr lang="es-ES" dirty="0" err="1" smtClean="0"/>
              <a:t>predictoras</a:t>
            </a:r>
            <a:r>
              <a:rPr lang="es-ES" dirty="0" smtClean="0"/>
              <a:t>.</a:t>
            </a:r>
          </a:p>
          <a:p>
            <a:r>
              <a:rPr lang="es-ES" dirty="0" smtClean="0"/>
              <a:t>En </a:t>
            </a:r>
            <a:r>
              <a:rPr lang="es-ES" dirty="0"/>
              <a:t>el caso más simple, </a:t>
            </a:r>
            <a:r>
              <a:rPr lang="es-ES" dirty="0" smtClean="0"/>
              <a:t>se </a:t>
            </a:r>
            <a:r>
              <a:rPr lang="es-ES" dirty="0"/>
              <a:t>considera una única variable </a:t>
            </a:r>
            <a:r>
              <a:rPr lang="es-ES" dirty="0" err="1"/>
              <a:t>predictora</a:t>
            </a:r>
            <a:r>
              <a:rPr lang="es-ES" dirty="0" smtClean="0"/>
              <a:t>.</a:t>
            </a:r>
            <a:endParaRPr lang="es-ES" dirty="0"/>
          </a:p>
          <a:p>
            <a:r>
              <a:rPr lang="es-ES" dirty="0"/>
              <a:t>Existe una relación creciente entre las variables velocidad y distancia en el conjunto de datos </a:t>
            </a:r>
            <a:r>
              <a:rPr lang="es-ES" dirty="0" smtClean="0"/>
              <a:t>cars.</a:t>
            </a:r>
          </a:p>
          <a:p>
            <a:r>
              <a:rPr lang="es-ES" dirty="0" smtClean="0"/>
              <a:t>A </a:t>
            </a:r>
            <a:r>
              <a:rPr lang="es-ES" dirty="0"/>
              <a:t>mayor velocidad, mayor es la distancia de frenado de los </a:t>
            </a:r>
            <a:r>
              <a:rPr lang="es-ES" dirty="0" smtClean="0"/>
              <a:t>vehículos.</a:t>
            </a:r>
          </a:p>
        </p:txBody>
      </p:sp>
    </p:spTree>
    <p:extLst>
      <p:ext uri="{BB962C8B-B14F-4D97-AF65-F5344CB8AC3E}">
        <p14:creationId xmlns:p14="http://schemas.microsoft.com/office/powerpoint/2010/main" val="146206416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Regresión lineal</a:t>
            </a:r>
            <a:endParaRPr lang="es-CL" dirty="0"/>
          </a:p>
        </p:txBody>
      </p:sp>
      <p:sp>
        <p:nvSpPr>
          <p:cNvPr id="3" name="Marcador de contenido 2"/>
          <p:cNvSpPr>
            <a:spLocks noGrp="1"/>
          </p:cNvSpPr>
          <p:nvPr>
            <p:ph idx="1"/>
          </p:nvPr>
        </p:nvSpPr>
        <p:spPr/>
        <p:txBody>
          <a:bodyPr/>
          <a:lstStyle/>
          <a:p>
            <a:r>
              <a:rPr lang="es-ES" dirty="0" err="1"/>
              <a:t>plot</a:t>
            </a:r>
            <a:r>
              <a:rPr lang="es-ES" dirty="0"/>
              <a:t>(</a:t>
            </a:r>
            <a:r>
              <a:rPr lang="es-ES" dirty="0" err="1"/>
              <a:t>cars$speed</a:t>
            </a:r>
            <a:r>
              <a:rPr lang="es-ES" dirty="0"/>
              <a:t>, </a:t>
            </a:r>
            <a:r>
              <a:rPr lang="es-ES" dirty="0" err="1"/>
              <a:t>cars$dist</a:t>
            </a:r>
            <a:r>
              <a:rPr lang="es-ES" dirty="0"/>
              <a:t>)</a:t>
            </a:r>
            <a:endParaRPr lang="es-ES" dirty="0" smtClean="0"/>
          </a:p>
        </p:txBody>
      </p:sp>
      <p:pic>
        <p:nvPicPr>
          <p:cNvPr id="4" name="Imagen 3"/>
          <p:cNvPicPr>
            <a:picLocks noChangeAspect="1"/>
          </p:cNvPicPr>
          <p:nvPr/>
        </p:nvPicPr>
        <p:blipFill>
          <a:blip r:embed="rId2"/>
          <a:stretch>
            <a:fillRect/>
          </a:stretch>
        </p:blipFill>
        <p:spPr>
          <a:xfrm>
            <a:off x="3327243" y="2801960"/>
            <a:ext cx="5743575" cy="3314700"/>
          </a:xfrm>
          <a:prstGeom prst="rect">
            <a:avLst/>
          </a:prstGeom>
        </p:spPr>
      </p:pic>
    </p:spTree>
    <p:extLst>
      <p:ext uri="{BB962C8B-B14F-4D97-AF65-F5344CB8AC3E}">
        <p14:creationId xmlns:p14="http://schemas.microsoft.com/office/powerpoint/2010/main" val="411469941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Regresión lineal</a:t>
            </a:r>
            <a:endParaRPr lang="es-CL" dirty="0"/>
          </a:p>
        </p:txBody>
      </p:sp>
      <p:sp>
        <p:nvSpPr>
          <p:cNvPr id="3" name="Marcador de contenido 2"/>
          <p:cNvSpPr>
            <a:spLocks noGrp="1"/>
          </p:cNvSpPr>
          <p:nvPr>
            <p:ph idx="1"/>
          </p:nvPr>
        </p:nvSpPr>
        <p:spPr/>
        <p:txBody>
          <a:bodyPr/>
          <a:lstStyle/>
          <a:p>
            <a:r>
              <a:rPr lang="es-ES" dirty="0"/>
              <a:t>El gráfico anterior muestra una nube de puntos. La regresión lineal construye la recta que, en cierto modo, mejor aproxima esa </a:t>
            </a:r>
            <a:r>
              <a:rPr lang="es-ES" dirty="0" smtClean="0"/>
              <a:t>nube poco entendible.</a:t>
            </a:r>
          </a:p>
          <a:p>
            <a:r>
              <a:rPr lang="es-ES" dirty="0" err="1"/>
              <a:t>lm.dist.speed</a:t>
            </a:r>
            <a:r>
              <a:rPr lang="es-ES" dirty="0"/>
              <a:t> &lt;- lm(</a:t>
            </a:r>
            <a:r>
              <a:rPr lang="es-ES" dirty="0" err="1"/>
              <a:t>cars$dist</a:t>
            </a:r>
            <a:r>
              <a:rPr lang="es-ES" dirty="0"/>
              <a:t> ~ </a:t>
            </a:r>
            <a:r>
              <a:rPr lang="es-ES" dirty="0" err="1"/>
              <a:t>cars$speed</a:t>
            </a:r>
            <a:r>
              <a:rPr lang="es-ES" dirty="0"/>
              <a:t>)</a:t>
            </a:r>
          </a:p>
          <a:p>
            <a:r>
              <a:rPr lang="es-ES" dirty="0" err="1" smtClean="0"/>
              <a:t>lm.dist.speed</a:t>
            </a:r>
            <a:endParaRPr lang="es-ES" dirty="0" smtClean="0"/>
          </a:p>
          <a:p>
            <a:r>
              <a:rPr lang="en-US" dirty="0"/>
              <a:t>plot(</a:t>
            </a:r>
            <a:r>
              <a:rPr lang="en-US" dirty="0" err="1"/>
              <a:t>cars$speed</a:t>
            </a:r>
            <a:r>
              <a:rPr lang="en-US" dirty="0"/>
              <a:t>, </a:t>
            </a:r>
            <a:r>
              <a:rPr lang="en-US" dirty="0" err="1"/>
              <a:t>cars$dist</a:t>
            </a:r>
            <a:r>
              <a:rPr lang="en-US" dirty="0"/>
              <a:t>)</a:t>
            </a:r>
          </a:p>
          <a:p>
            <a:r>
              <a:rPr lang="en-US" dirty="0" err="1"/>
              <a:t>abline</a:t>
            </a:r>
            <a:r>
              <a:rPr lang="en-US" dirty="0"/>
              <a:t>(</a:t>
            </a:r>
            <a:r>
              <a:rPr lang="en-US" dirty="0" err="1"/>
              <a:t>lm.dist.speed</a:t>
            </a:r>
            <a:r>
              <a:rPr lang="en-US" dirty="0"/>
              <a:t>, col = "red")</a:t>
            </a:r>
            <a:endParaRPr lang="es-ES" dirty="0" smtClean="0"/>
          </a:p>
        </p:txBody>
      </p:sp>
      <p:pic>
        <p:nvPicPr>
          <p:cNvPr id="5" name="Imagen 4"/>
          <p:cNvPicPr>
            <a:picLocks noChangeAspect="1"/>
          </p:cNvPicPr>
          <p:nvPr/>
        </p:nvPicPr>
        <p:blipFill>
          <a:blip r:embed="rId2"/>
          <a:stretch>
            <a:fillRect/>
          </a:stretch>
        </p:blipFill>
        <p:spPr>
          <a:xfrm>
            <a:off x="7034816" y="3078051"/>
            <a:ext cx="4435018" cy="2659487"/>
          </a:xfrm>
          <a:prstGeom prst="rect">
            <a:avLst/>
          </a:prstGeom>
        </p:spPr>
      </p:pic>
    </p:spTree>
    <p:extLst>
      <p:ext uri="{BB962C8B-B14F-4D97-AF65-F5344CB8AC3E}">
        <p14:creationId xmlns:p14="http://schemas.microsoft.com/office/powerpoint/2010/main" val="142349215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Regresión lineal</a:t>
            </a:r>
            <a:endParaRPr lang="es-CL" dirty="0"/>
          </a:p>
        </p:txBody>
      </p:sp>
      <p:sp>
        <p:nvSpPr>
          <p:cNvPr id="3" name="Marcador de contenido 2"/>
          <p:cNvSpPr>
            <a:spLocks noGrp="1"/>
          </p:cNvSpPr>
          <p:nvPr>
            <p:ph idx="1"/>
          </p:nvPr>
        </p:nvSpPr>
        <p:spPr/>
        <p:txBody>
          <a:bodyPr/>
          <a:lstStyle/>
          <a:p>
            <a:r>
              <a:rPr lang="es-ES" dirty="0"/>
              <a:t>El código </a:t>
            </a:r>
            <a:r>
              <a:rPr lang="es-ES" dirty="0" smtClean="0"/>
              <a:t>anterior </a:t>
            </a:r>
            <a:r>
              <a:rPr lang="es-ES" dirty="0"/>
              <a:t>usa la función </a:t>
            </a:r>
            <a:r>
              <a:rPr lang="es-ES" b="1" dirty="0"/>
              <a:t>lm</a:t>
            </a:r>
            <a:r>
              <a:rPr lang="es-ES" dirty="0"/>
              <a:t> para ajustar el modelo de regresión lineal (linear </a:t>
            </a:r>
            <a:r>
              <a:rPr lang="es-ES" dirty="0" err="1"/>
              <a:t>model</a:t>
            </a:r>
            <a:r>
              <a:rPr lang="es-ES" dirty="0"/>
              <a:t>), muestra un pequeño resumen del modelo en pantalla y finalmente añade la recta de regresión, en rojo, al gráfico anterior</a:t>
            </a:r>
            <a:r>
              <a:rPr lang="es-ES" dirty="0" smtClean="0"/>
              <a:t>.</a:t>
            </a:r>
            <a:endParaRPr lang="es-ES" dirty="0"/>
          </a:p>
          <a:p>
            <a:r>
              <a:rPr lang="es-ES" dirty="0"/>
              <a:t>La función </a:t>
            </a:r>
            <a:r>
              <a:rPr lang="es-ES" dirty="0" err="1"/>
              <a:t>summary</a:t>
            </a:r>
            <a:r>
              <a:rPr lang="es-ES" dirty="0"/>
              <a:t>, aplicada en este caso no a un vector o a una tabla sino al objeto resultante de la regresión lineal, muestra un resumen del modelo similar al que aparece en las publicaciones </a:t>
            </a:r>
            <a:r>
              <a:rPr lang="es-ES" dirty="0" smtClean="0"/>
              <a:t>científicas.</a:t>
            </a:r>
          </a:p>
          <a:p>
            <a:r>
              <a:rPr lang="es-ES" dirty="0" err="1"/>
              <a:t>summary</a:t>
            </a:r>
            <a:r>
              <a:rPr lang="es-ES" dirty="0"/>
              <a:t>(</a:t>
            </a:r>
            <a:r>
              <a:rPr lang="es-ES" dirty="0" err="1"/>
              <a:t>lm.dist.speed</a:t>
            </a:r>
            <a:r>
              <a:rPr lang="es-ES" dirty="0"/>
              <a:t>)</a:t>
            </a:r>
            <a:endParaRPr lang="es-ES" dirty="0" smtClean="0"/>
          </a:p>
        </p:txBody>
      </p:sp>
    </p:spTree>
    <p:extLst>
      <p:ext uri="{BB962C8B-B14F-4D97-AF65-F5344CB8AC3E}">
        <p14:creationId xmlns:p14="http://schemas.microsoft.com/office/powerpoint/2010/main" val="167755259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Regresión lineal</a:t>
            </a:r>
            <a:endParaRPr lang="es-CL" dirty="0"/>
          </a:p>
        </p:txBody>
      </p:sp>
      <p:pic>
        <p:nvPicPr>
          <p:cNvPr id="4" name="Marcador de contenido 3"/>
          <p:cNvPicPr>
            <a:picLocks noGrp="1" noChangeAspect="1"/>
          </p:cNvPicPr>
          <p:nvPr>
            <p:ph idx="1"/>
          </p:nvPr>
        </p:nvPicPr>
        <p:blipFill>
          <a:blip r:embed="rId2"/>
          <a:stretch>
            <a:fillRect/>
          </a:stretch>
        </p:blipFill>
        <p:spPr>
          <a:xfrm>
            <a:off x="2195191" y="1853248"/>
            <a:ext cx="7507913" cy="4164767"/>
          </a:xfrm>
          <a:prstGeom prst="rect">
            <a:avLst/>
          </a:prstGeom>
        </p:spPr>
      </p:pic>
    </p:spTree>
    <p:extLst>
      <p:ext uri="{BB962C8B-B14F-4D97-AF65-F5344CB8AC3E}">
        <p14:creationId xmlns:p14="http://schemas.microsoft.com/office/powerpoint/2010/main" val="376556915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Regresión lineal</a:t>
            </a:r>
            <a:endParaRPr lang="es-CL" dirty="0"/>
          </a:p>
        </p:txBody>
      </p:sp>
      <p:sp>
        <p:nvSpPr>
          <p:cNvPr id="3" name="Marcador de contenido 2"/>
          <p:cNvSpPr>
            <a:spLocks noGrp="1"/>
          </p:cNvSpPr>
          <p:nvPr>
            <p:ph idx="1"/>
          </p:nvPr>
        </p:nvSpPr>
        <p:spPr/>
        <p:txBody>
          <a:bodyPr/>
          <a:lstStyle/>
          <a:p>
            <a:r>
              <a:rPr lang="es-ES" dirty="0" err="1"/>
              <a:t>summary</a:t>
            </a:r>
            <a:r>
              <a:rPr lang="es-ES" dirty="0"/>
              <a:t> no es la única función que admite el modelo </a:t>
            </a:r>
            <a:r>
              <a:rPr lang="es-ES" dirty="0" smtClean="0"/>
              <a:t>creado.</a:t>
            </a:r>
          </a:p>
          <a:p>
            <a:r>
              <a:rPr lang="es-ES" dirty="0" err="1" smtClean="0"/>
              <a:t>plot</a:t>
            </a:r>
            <a:r>
              <a:rPr lang="es-ES" dirty="0" smtClean="0"/>
              <a:t> </a:t>
            </a:r>
            <a:r>
              <a:rPr lang="es-ES" dirty="0"/>
              <a:t>crea una representación gráfica </a:t>
            </a:r>
            <a:r>
              <a:rPr lang="es-ES" dirty="0" smtClean="0"/>
              <a:t>que </a:t>
            </a:r>
            <a:r>
              <a:rPr lang="es-ES" dirty="0"/>
              <a:t>ilustra algunos aspectos del modelo que los implementadores de la función lm encontraron </a:t>
            </a:r>
            <a:r>
              <a:rPr lang="es-ES" dirty="0" smtClean="0"/>
              <a:t>útiles.</a:t>
            </a:r>
          </a:p>
          <a:p>
            <a:r>
              <a:rPr lang="es-CL" dirty="0" err="1"/>
              <a:t>plot</a:t>
            </a:r>
            <a:r>
              <a:rPr lang="es-CL" dirty="0"/>
              <a:t>(</a:t>
            </a:r>
            <a:r>
              <a:rPr lang="es-CL" dirty="0" err="1"/>
              <a:t>lm.dist.speed</a:t>
            </a:r>
            <a:r>
              <a:rPr lang="es-CL" dirty="0"/>
              <a:t>, 1)</a:t>
            </a:r>
          </a:p>
        </p:txBody>
      </p:sp>
    </p:spTree>
    <p:extLst>
      <p:ext uri="{BB962C8B-B14F-4D97-AF65-F5344CB8AC3E}">
        <p14:creationId xmlns:p14="http://schemas.microsoft.com/office/powerpoint/2010/main" val="269035406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Regresión lineal</a:t>
            </a:r>
            <a:endParaRPr lang="es-CL" dirty="0"/>
          </a:p>
        </p:txBody>
      </p:sp>
      <p:sp>
        <p:nvSpPr>
          <p:cNvPr id="3" name="Marcador de contenido 2"/>
          <p:cNvSpPr>
            <a:spLocks noGrp="1"/>
          </p:cNvSpPr>
          <p:nvPr>
            <p:ph idx="1"/>
          </p:nvPr>
        </p:nvSpPr>
        <p:spPr/>
        <p:txBody>
          <a:bodyPr/>
          <a:lstStyle/>
          <a:p>
            <a:r>
              <a:rPr lang="es-CL" dirty="0" err="1" smtClean="0"/>
              <a:t>plot</a:t>
            </a:r>
            <a:r>
              <a:rPr lang="es-CL" dirty="0" smtClean="0"/>
              <a:t>(</a:t>
            </a:r>
            <a:r>
              <a:rPr lang="es-CL" dirty="0" err="1" smtClean="0"/>
              <a:t>lm.dist.speed</a:t>
            </a:r>
            <a:r>
              <a:rPr lang="es-CL" dirty="0"/>
              <a:t>, 1)</a:t>
            </a:r>
          </a:p>
        </p:txBody>
      </p:sp>
      <p:pic>
        <p:nvPicPr>
          <p:cNvPr id="4" name="Imagen 3"/>
          <p:cNvPicPr>
            <a:picLocks noChangeAspect="1"/>
          </p:cNvPicPr>
          <p:nvPr/>
        </p:nvPicPr>
        <p:blipFill>
          <a:blip r:embed="rId2"/>
          <a:stretch>
            <a:fillRect/>
          </a:stretch>
        </p:blipFill>
        <p:spPr>
          <a:xfrm>
            <a:off x="3595218" y="2828924"/>
            <a:ext cx="5619750" cy="3419475"/>
          </a:xfrm>
          <a:prstGeom prst="rect">
            <a:avLst/>
          </a:prstGeom>
        </p:spPr>
      </p:pic>
    </p:spTree>
    <p:extLst>
      <p:ext uri="{BB962C8B-B14F-4D97-AF65-F5344CB8AC3E}">
        <p14:creationId xmlns:p14="http://schemas.microsoft.com/office/powerpoint/2010/main" val="37770377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Regresión logística</a:t>
            </a:r>
          </a:p>
        </p:txBody>
      </p:sp>
      <p:sp>
        <p:nvSpPr>
          <p:cNvPr id="3" name="Marcador de contenido 2"/>
          <p:cNvSpPr>
            <a:spLocks noGrp="1"/>
          </p:cNvSpPr>
          <p:nvPr>
            <p:ph idx="1"/>
          </p:nvPr>
        </p:nvSpPr>
        <p:spPr/>
        <p:txBody>
          <a:bodyPr/>
          <a:lstStyle/>
          <a:p>
            <a:r>
              <a:rPr lang="es-ES" dirty="0"/>
              <a:t>La regresión logística forma parte de los llamados modelos lineales generalizados y trata de estimar la probabilidad de ocurrencia de un evento binario (éxito/fracaso, cara/cruz) en función de una serie de variables </a:t>
            </a:r>
            <a:r>
              <a:rPr lang="es-ES" dirty="0" err="1"/>
              <a:t>predictoras</a:t>
            </a:r>
            <a:r>
              <a:rPr lang="es-ES" dirty="0" smtClean="0"/>
              <a:t>.</a:t>
            </a:r>
          </a:p>
          <a:p>
            <a:r>
              <a:rPr lang="es-ES" dirty="0" smtClean="0"/>
              <a:t>Se usara </a:t>
            </a:r>
            <a:r>
              <a:rPr lang="es-ES" dirty="0"/>
              <a:t>el conjunto de datos </a:t>
            </a:r>
            <a:r>
              <a:rPr lang="es-ES" dirty="0" err="1"/>
              <a:t>UCBAdmissions</a:t>
            </a:r>
            <a:r>
              <a:rPr lang="es-ES" dirty="0"/>
              <a:t> y el evento binario es la admisión de un estudiante a un programa de doctorado en función otras variables</a:t>
            </a:r>
            <a:r>
              <a:rPr lang="es-ES" dirty="0" smtClean="0"/>
              <a:t>.</a:t>
            </a:r>
          </a:p>
          <a:p>
            <a:r>
              <a:rPr lang="en-US" dirty="0" err="1"/>
              <a:t>datos</a:t>
            </a:r>
            <a:r>
              <a:rPr lang="en-US" dirty="0"/>
              <a:t> &lt;- </a:t>
            </a:r>
            <a:r>
              <a:rPr lang="en-US" dirty="0" err="1"/>
              <a:t>as.data.frame</a:t>
            </a:r>
            <a:r>
              <a:rPr lang="en-US" dirty="0"/>
              <a:t>(</a:t>
            </a:r>
            <a:r>
              <a:rPr lang="en-US" dirty="0" err="1"/>
              <a:t>UCBAdmissions</a:t>
            </a:r>
            <a:r>
              <a:rPr lang="en-US" dirty="0"/>
              <a:t>)</a:t>
            </a:r>
          </a:p>
          <a:p>
            <a:r>
              <a:rPr lang="en-US" dirty="0" err="1"/>
              <a:t>datos$Admit</a:t>
            </a:r>
            <a:r>
              <a:rPr lang="en-US" dirty="0"/>
              <a:t> &lt;- </a:t>
            </a:r>
            <a:r>
              <a:rPr lang="en-US" dirty="0" err="1"/>
              <a:t>datos$Admit</a:t>
            </a:r>
            <a:r>
              <a:rPr lang="en-US" dirty="0"/>
              <a:t> == "Admitted"</a:t>
            </a:r>
            <a:endParaRPr lang="es-CL" dirty="0"/>
          </a:p>
        </p:txBody>
      </p:sp>
    </p:spTree>
    <p:extLst>
      <p:ext uri="{BB962C8B-B14F-4D97-AF65-F5344CB8AC3E}">
        <p14:creationId xmlns:p14="http://schemas.microsoft.com/office/powerpoint/2010/main" val="21376423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Regresión logística</a:t>
            </a:r>
          </a:p>
        </p:txBody>
      </p:sp>
      <p:sp>
        <p:nvSpPr>
          <p:cNvPr id="3" name="Marcador de contenido 2"/>
          <p:cNvSpPr>
            <a:spLocks noGrp="1"/>
          </p:cNvSpPr>
          <p:nvPr>
            <p:ph idx="1"/>
          </p:nvPr>
        </p:nvSpPr>
        <p:spPr/>
        <p:txBody>
          <a:bodyPr/>
          <a:lstStyle/>
          <a:p>
            <a:r>
              <a:rPr lang="es-ES" dirty="0"/>
              <a:t>Este conjunto de datos se recogió para un estudio acerca de la discriminación contra las mujeres en este tipo de ámbitos publicado por </a:t>
            </a:r>
            <a:r>
              <a:rPr lang="es-ES" dirty="0" err="1"/>
              <a:t>Science</a:t>
            </a:r>
            <a:r>
              <a:rPr lang="es-ES" dirty="0"/>
              <a:t> en </a:t>
            </a:r>
            <a:r>
              <a:rPr lang="es-ES" dirty="0" smtClean="0"/>
              <a:t>1975.</a:t>
            </a:r>
          </a:p>
          <a:p>
            <a:r>
              <a:rPr lang="es-ES" dirty="0" smtClean="0"/>
              <a:t>Por </a:t>
            </a:r>
            <a:r>
              <a:rPr lang="es-ES" dirty="0"/>
              <a:t>eso interesa conocer el efecto de la variable </a:t>
            </a:r>
            <a:r>
              <a:rPr lang="es-ES" dirty="0" err="1"/>
              <a:t>Gender</a:t>
            </a:r>
            <a:r>
              <a:rPr lang="es-ES" dirty="0"/>
              <a:t> en la probabilidad de resultar admitido</a:t>
            </a:r>
            <a:r>
              <a:rPr lang="es-ES" dirty="0" smtClean="0"/>
              <a:t>.</a:t>
            </a:r>
          </a:p>
          <a:p>
            <a:r>
              <a:rPr lang="es-CL" sz="1400" dirty="0" err="1"/>
              <a:t>modelo.sin.dept</a:t>
            </a:r>
            <a:r>
              <a:rPr lang="es-CL" sz="1400" dirty="0"/>
              <a:t> &lt;- </a:t>
            </a:r>
            <a:r>
              <a:rPr lang="es-CL" sz="1400" dirty="0" err="1"/>
              <a:t>glm</a:t>
            </a:r>
            <a:r>
              <a:rPr lang="es-CL" sz="1400" dirty="0"/>
              <a:t>(</a:t>
            </a:r>
            <a:r>
              <a:rPr lang="es-CL" sz="1400" dirty="0" err="1"/>
              <a:t>Admit</a:t>
            </a:r>
            <a:r>
              <a:rPr lang="es-CL" sz="1400" dirty="0"/>
              <a:t> ~ </a:t>
            </a:r>
            <a:r>
              <a:rPr lang="es-CL" sz="1400" dirty="0" err="1" smtClean="0"/>
              <a:t>Gender,data</a:t>
            </a:r>
            <a:r>
              <a:rPr lang="es-CL" sz="1400" dirty="0" smtClean="0"/>
              <a:t> </a:t>
            </a:r>
            <a:r>
              <a:rPr lang="es-CL" sz="1400" dirty="0"/>
              <a:t>= datos, </a:t>
            </a:r>
            <a:r>
              <a:rPr lang="es-CL" sz="1400" dirty="0" err="1"/>
              <a:t>weights</a:t>
            </a:r>
            <a:r>
              <a:rPr lang="es-CL" sz="1400" dirty="0"/>
              <a:t> = </a:t>
            </a:r>
            <a:r>
              <a:rPr lang="es-CL" sz="1400" dirty="0" err="1"/>
              <a:t>Freq</a:t>
            </a:r>
            <a:r>
              <a:rPr lang="es-CL" sz="1400" dirty="0" smtClean="0"/>
              <a:t>, </a:t>
            </a:r>
            <a:r>
              <a:rPr lang="es-CL" sz="1400" dirty="0" err="1" smtClean="0"/>
              <a:t>family</a:t>
            </a:r>
            <a:r>
              <a:rPr lang="es-CL" sz="1400" dirty="0" smtClean="0"/>
              <a:t> </a:t>
            </a:r>
            <a:r>
              <a:rPr lang="es-CL" sz="1400" dirty="0"/>
              <a:t>= binomial())</a:t>
            </a:r>
          </a:p>
          <a:p>
            <a:r>
              <a:rPr lang="es-CL" dirty="0" err="1"/>
              <a:t>summary</a:t>
            </a:r>
            <a:r>
              <a:rPr lang="es-CL" dirty="0"/>
              <a:t>(</a:t>
            </a:r>
            <a:r>
              <a:rPr lang="es-CL" dirty="0" err="1"/>
              <a:t>modelo.sin.dept</a:t>
            </a:r>
            <a:r>
              <a:rPr lang="es-CL" dirty="0"/>
              <a:t>)</a:t>
            </a:r>
          </a:p>
        </p:txBody>
      </p:sp>
    </p:spTree>
    <p:extLst>
      <p:ext uri="{BB962C8B-B14F-4D97-AF65-F5344CB8AC3E}">
        <p14:creationId xmlns:p14="http://schemas.microsoft.com/office/powerpoint/2010/main" val="267712305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Regresión logística</a:t>
            </a:r>
          </a:p>
        </p:txBody>
      </p:sp>
      <p:pic>
        <p:nvPicPr>
          <p:cNvPr id="4" name="Marcador de contenido 3"/>
          <p:cNvPicPr>
            <a:picLocks noGrp="1" noChangeAspect="1"/>
          </p:cNvPicPr>
          <p:nvPr>
            <p:ph idx="1"/>
          </p:nvPr>
        </p:nvPicPr>
        <p:blipFill>
          <a:blip r:embed="rId2"/>
          <a:stretch>
            <a:fillRect/>
          </a:stretch>
        </p:blipFill>
        <p:spPr>
          <a:xfrm>
            <a:off x="2807595" y="1948861"/>
            <a:ext cx="6716802" cy="4086267"/>
          </a:xfrm>
          <a:prstGeom prst="rect">
            <a:avLst/>
          </a:prstGeom>
        </p:spPr>
      </p:pic>
    </p:spTree>
    <p:extLst>
      <p:ext uri="{BB962C8B-B14F-4D97-AF65-F5344CB8AC3E}">
        <p14:creationId xmlns:p14="http://schemas.microsoft.com/office/powerpoint/2010/main" val="212039921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Regresión logística</a:t>
            </a:r>
          </a:p>
        </p:txBody>
      </p:sp>
      <p:sp>
        <p:nvSpPr>
          <p:cNvPr id="3" name="Marcador de contenido 2"/>
          <p:cNvSpPr>
            <a:spLocks noGrp="1"/>
          </p:cNvSpPr>
          <p:nvPr>
            <p:ph idx="1"/>
          </p:nvPr>
        </p:nvSpPr>
        <p:spPr/>
        <p:txBody>
          <a:bodyPr/>
          <a:lstStyle/>
          <a:p>
            <a:r>
              <a:rPr lang="es-ES" dirty="0"/>
              <a:t>Se aprecia en el resumen del modelo cómo el sexo es una variable </a:t>
            </a:r>
            <a:r>
              <a:rPr lang="es-ES" dirty="0" err="1"/>
              <a:t>predictora</a:t>
            </a:r>
            <a:r>
              <a:rPr lang="es-ES" dirty="0"/>
              <a:t> muy importante (el p-valor es ínfimo y el tamaño del coeficiente relativamente grande) y cómo da la impresión de que en el proceso de admisión existe discriminación contra las mujeres: el coeficiente es negativo.</a:t>
            </a:r>
            <a:endParaRPr lang="es-CL" dirty="0"/>
          </a:p>
        </p:txBody>
      </p:sp>
    </p:spTree>
    <p:extLst>
      <p:ext uri="{BB962C8B-B14F-4D97-AF65-F5344CB8AC3E}">
        <p14:creationId xmlns:p14="http://schemas.microsoft.com/office/powerpoint/2010/main" val="357311975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Regresión logística</a:t>
            </a:r>
          </a:p>
        </p:txBody>
      </p:sp>
      <p:sp>
        <p:nvSpPr>
          <p:cNvPr id="3" name="Marcador de contenido 2"/>
          <p:cNvSpPr>
            <a:spLocks noGrp="1"/>
          </p:cNvSpPr>
          <p:nvPr>
            <p:ph idx="1"/>
          </p:nvPr>
        </p:nvSpPr>
        <p:spPr/>
        <p:txBody>
          <a:bodyPr/>
          <a:lstStyle/>
          <a:p>
            <a:r>
              <a:rPr lang="es-ES" dirty="0"/>
              <a:t>El siguiente modelo incluye el departamento como variable </a:t>
            </a:r>
            <a:r>
              <a:rPr lang="es-ES" dirty="0" err="1"/>
              <a:t>predictora</a:t>
            </a:r>
            <a:r>
              <a:rPr lang="es-ES" dirty="0"/>
              <a:t>. En el resultado se aprecia cómo el efecto del sexo prácticamente desaparece</a:t>
            </a:r>
            <a:r>
              <a:rPr lang="es-ES" dirty="0" smtClean="0"/>
              <a:t>.</a:t>
            </a:r>
          </a:p>
          <a:p>
            <a:endParaRPr lang="es-ES" dirty="0"/>
          </a:p>
          <a:p>
            <a:r>
              <a:rPr lang="es-CL" dirty="0" err="1"/>
              <a:t>modelo.con.dept</a:t>
            </a:r>
            <a:r>
              <a:rPr lang="es-CL" dirty="0"/>
              <a:t> &lt;- </a:t>
            </a:r>
            <a:r>
              <a:rPr lang="es-CL" dirty="0" err="1"/>
              <a:t>glm</a:t>
            </a:r>
            <a:r>
              <a:rPr lang="es-CL" dirty="0"/>
              <a:t>(</a:t>
            </a:r>
            <a:r>
              <a:rPr lang="es-CL" dirty="0" err="1"/>
              <a:t>Admit</a:t>
            </a:r>
            <a:r>
              <a:rPr lang="es-CL" dirty="0"/>
              <a:t> ~ </a:t>
            </a:r>
            <a:r>
              <a:rPr lang="es-CL" dirty="0" err="1"/>
              <a:t>Gender</a:t>
            </a:r>
            <a:r>
              <a:rPr lang="es-CL" dirty="0"/>
              <a:t> + </a:t>
            </a:r>
            <a:r>
              <a:rPr lang="es-CL" dirty="0" err="1"/>
              <a:t>Dept</a:t>
            </a:r>
            <a:r>
              <a:rPr lang="es-CL" dirty="0"/>
              <a:t>,</a:t>
            </a:r>
          </a:p>
          <a:p>
            <a:r>
              <a:rPr lang="es-CL" dirty="0"/>
              <a:t>                       data = datos, </a:t>
            </a:r>
            <a:r>
              <a:rPr lang="es-CL" dirty="0" err="1"/>
              <a:t>weights</a:t>
            </a:r>
            <a:r>
              <a:rPr lang="es-CL" dirty="0"/>
              <a:t> = </a:t>
            </a:r>
            <a:r>
              <a:rPr lang="es-CL" dirty="0" err="1"/>
              <a:t>Freq</a:t>
            </a:r>
            <a:r>
              <a:rPr lang="es-CL" dirty="0"/>
              <a:t>,</a:t>
            </a:r>
          </a:p>
          <a:p>
            <a:r>
              <a:rPr lang="es-CL" dirty="0"/>
              <a:t>                       </a:t>
            </a:r>
            <a:r>
              <a:rPr lang="es-CL" dirty="0" err="1"/>
              <a:t>family</a:t>
            </a:r>
            <a:r>
              <a:rPr lang="es-CL" dirty="0"/>
              <a:t> = binomial())</a:t>
            </a:r>
          </a:p>
          <a:p>
            <a:r>
              <a:rPr lang="es-CL" dirty="0" err="1"/>
              <a:t>summary</a:t>
            </a:r>
            <a:r>
              <a:rPr lang="es-CL" dirty="0"/>
              <a:t>(</a:t>
            </a:r>
            <a:r>
              <a:rPr lang="es-CL" dirty="0" err="1"/>
              <a:t>modelo.con.dept</a:t>
            </a:r>
            <a:r>
              <a:rPr lang="es-CL" dirty="0"/>
              <a:t>)</a:t>
            </a:r>
          </a:p>
        </p:txBody>
      </p:sp>
    </p:spTree>
    <p:extLst>
      <p:ext uri="{BB962C8B-B14F-4D97-AF65-F5344CB8AC3E}">
        <p14:creationId xmlns:p14="http://schemas.microsoft.com/office/powerpoint/2010/main" val="321338989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Regresión logística</a:t>
            </a:r>
          </a:p>
        </p:txBody>
      </p:sp>
      <p:pic>
        <p:nvPicPr>
          <p:cNvPr id="4" name="Marcador de contenido 3"/>
          <p:cNvPicPr>
            <a:picLocks noGrp="1" noChangeAspect="1"/>
          </p:cNvPicPr>
          <p:nvPr>
            <p:ph idx="1"/>
          </p:nvPr>
        </p:nvPicPr>
        <p:blipFill>
          <a:blip r:embed="rId2"/>
          <a:stretch>
            <a:fillRect/>
          </a:stretch>
        </p:blipFill>
        <p:spPr>
          <a:xfrm>
            <a:off x="2459866" y="1625145"/>
            <a:ext cx="6595190" cy="4696404"/>
          </a:xfrm>
          <a:prstGeom prst="rect">
            <a:avLst/>
          </a:prstGeom>
        </p:spPr>
      </p:pic>
    </p:spTree>
    <p:extLst>
      <p:ext uri="{BB962C8B-B14F-4D97-AF65-F5344CB8AC3E}">
        <p14:creationId xmlns:p14="http://schemas.microsoft.com/office/powerpoint/2010/main" val="167791543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Regresión logística</a:t>
            </a:r>
          </a:p>
        </p:txBody>
      </p:sp>
      <p:sp>
        <p:nvSpPr>
          <p:cNvPr id="3" name="Marcador de contenido 2"/>
          <p:cNvSpPr>
            <a:spLocks noGrp="1"/>
          </p:cNvSpPr>
          <p:nvPr>
            <p:ph idx="1"/>
          </p:nvPr>
        </p:nvSpPr>
        <p:spPr/>
        <p:txBody>
          <a:bodyPr/>
          <a:lstStyle/>
          <a:p>
            <a:r>
              <a:rPr lang="es-ES" dirty="0"/>
              <a:t>Lo que evidencia este segundo modelo es que no existía tal discriminación contra las </a:t>
            </a:r>
            <a:r>
              <a:rPr lang="es-ES" dirty="0" smtClean="0"/>
              <a:t>mujeres.</a:t>
            </a:r>
          </a:p>
          <a:p>
            <a:r>
              <a:rPr lang="es-ES" dirty="0" smtClean="0"/>
              <a:t>Lo </a:t>
            </a:r>
            <a:r>
              <a:rPr lang="es-ES" dirty="0"/>
              <a:t>que ocurría realmente es que los distintos departamentos tenían niveles de exigencia distintos y entre los candidatos a los más exigentes predominaban las </a:t>
            </a:r>
            <a:r>
              <a:rPr lang="es-ES" dirty="0" smtClean="0"/>
              <a:t>mujeres.</a:t>
            </a:r>
          </a:p>
          <a:p>
            <a:r>
              <a:rPr lang="es-ES" dirty="0" smtClean="0"/>
              <a:t>Las </a:t>
            </a:r>
            <a:r>
              <a:rPr lang="es-ES" dirty="0"/>
              <a:t>tasas de admitidos en cada departamento por sexo eran similares pero, globalmente, parecía haber un sesgo</a:t>
            </a:r>
            <a:r>
              <a:rPr lang="es-ES" dirty="0" smtClean="0"/>
              <a:t>.</a:t>
            </a:r>
          </a:p>
          <a:p>
            <a:r>
              <a:rPr lang="es-ES" dirty="0" smtClean="0"/>
              <a:t>Se conoce como la paradoja de Simpson</a:t>
            </a:r>
            <a:endParaRPr lang="es-CL" dirty="0"/>
          </a:p>
        </p:txBody>
      </p:sp>
    </p:spTree>
    <p:extLst>
      <p:ext uri="{BB962C8B-B14F-4D97-AF65-F5344CB8AC3E}">
        <p14:creationId xmlns:p14="http://schemas.microsoft.com/office/powerpoint/2010/main" val="30112618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Regresión logística</a:t>
            </a:r>
          </a:p>
        </p:txBody>
      </p:sp>
      <p:sp>
        <p:nvSpPr>
          <p:cNvPr id="3" name="Marcador de contenido 2"/>
          <p:cNvSpPr>
            <a:spLocks noGrp="1"/>
          </p:cNvSpPr>
          <p:nvPr>
            <p:ph idx="1"/>
          </p:nvPr>
        </p:nvSpPr>
        <p:spPr/>
        <p:txBody>
          <a:bodyPr/>
          <a:lstStyle/>
          <a:p>
            <a:r>
              <a:rPr lang="es-ES" b="1" dirty="0" smtClean="0"/>
              <a:t>Paradoja </a:t>
            </a:r>
            <a:r>
              <a:rPr lang="es-ES" b="1" dirty="0"/>
              <a:t>de Simpson</a:t>
            </a:r>
            <a:r>
              <a:rPr lang="es-ES" dirty="0"/>
              <a:t>: </a:t>
            </a:r>
            <a:r>
              <a:rPr lang="es-ES" dirty="0" smtClean="0"/>
              <a:t>Una </a:t>
            </a:r>
            <a:r>
              <a:rPr lang="es-ES" dirty="0"/>
              <a:t>tendencia que aparece en varios grupos de datos desaparece cuando estos grupos se combinan y en su lugar aparece la tendencia contraria para los datos agregados.</a:t>
            </a:r>
            <a:endParaRPr lang="es-CL" dirty="0"/>
          </a:p>
        </p:txBody>
      </p:sp>
    </p:spTree>
    <p:extLst>
      <p:ext uri="{BB962C8B-B14F-4D97-AF65-F5344CB8AC3E}">
        <p14:creationId xmlns:p14="http://schemas.microsoft.com/office/powerpoint/2010/main" val="111912476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Regresión logística</a:t>
            </a:r>
          </a:p>
        </p:txBody>
      </p:sp>
      <p:sp>
        <p:nvSpPr>
          <p:cNvPr id="3" name="Marcador de contenido 2"/>
          <p:cNvSpPr>
            <a:spLocks noGrp="1"/>
          </p:cNvSpPr>
          <p:nvPr>
            <p:ph idx="1"/>
          </p:nvPr>
        </p:nvSpPr>
        <p:spPr/>
        <p:txBody>
          <a:bodyPr/>
          <a:lstStyle/>
          <a:p>
            <a:r>
              <a:rPr lang="es-ES" b="1" dirty="0" smtClean="0"/>
              <a:t>Paradoja </a:t>
            </a:r>
            <a:r>
              <a:rPr lang="es-ES" b="1" dirty="0"/>
              <a:t>de Simpson</a:t>
            </a:r>
            <a:r>
              <a:rPr lang="es-ES" dirty="0"/>
              <a:t>: </a:t>
            </a:r>
            <a:r>
              <a:rPr lang="es-ES" dirty="0" smtClean="0"/>
              <a:t>Una </a:t>
            </a:r>
            <a:r>
              <a:rPr lang="es-ES" dirty="0"/>
              <a:t>tendencia que aparece en varios grupos de datos desaparece cuando estos grupos se combinan y en su lugar aparece la tendencia contraria para los datos agregados.</a:t>
            </a:r>
            <a:endParaRPr lang="es-CL" dirty="0"/>
          </a:p>
        </p:txBody>
      </p:sp>
    </p:spTree>
    <p:extLst>
      <p:ext uri="{BB962C8B-B14F-4D97-AF65-F5344CB8AC3E}">
        <p14:creationId xmlns:p14="http://schemas.microsoft.com/office/powerpoint/2010/main" val="191424504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Ejercicio 05</a:t>
            </a:r>
            <a:endParaRPr lang="es-CL" dirty="0"/>
          </a:p>
        </p:txBody>
      </p:sp>
      <p:sp>
        <p:nvSpPr>
          <p:cNvPr id="3" name="Marcador de contenido 2"/>
          <p:cNvSpPr>
            <a:spLocks noGrp="1"/>
          </p:cNvSpPr>
          <p:nvPr>
            <p:ph idx="1"/>
          </p:nvPr>
        </p:nvSpPr>
        <p:spPr/>
        <p:txBody>
          <a:bodyPr/>
          <a:lstStyle/>
          <a:p>
            <a:r>
              <a:rPr lang="pt-BR" dirty="0" err="1"/>
              <a:t>mi.lista</a:t>
            </a:r>
            <a:r>
              <a:rPr lang="pt-BR" dirty="0"/>
              <a:t> &lt;- </a:t>
            </a:r>
            <a:r>
              <a:rPr lang="pt-BR" dirty="0" err="1"/>
              <a:t>list</a:t>
            </a:r>
            <a:r>
              <a:rPr lang="pt-BR" dirty="0"/>
              <a:t>(a = 1:3, b = c(“</a:t>
            </a:r>
            <a:r>
              <a:rPr lang="pt-BR" dirty="0" err="1"/>
              <a:t>hola</a:t>
            </a:r>
            <a:r>
              <a:rPr lang="pt-BR" dirty="0"/>
              <a:t>”, “</a:t>
            </a:r>
            <a:r>
              <a:rPr lang="pt-BR" dirty="0" err="1"/>
              <a:t>adiós</a:t>
            </a:r>
            <a:r>
              <a:rPr lang="pt-BR" dirty="0" smtClean="0"/>
              <a:t>”))</a:t>
            </a:r>
          </a:p>
          <a:p>
            <a:pPr lvl="1"/>
            <a:r>
              <a:rPr lang="es-ES" dirty="0" smtClean="0"/>
              <a:t>Sumar </a:t>
            </a:r>
            <a:r>
              <a:rPr lang="es-ES" dirty="0"/>
              <a:t>los elementos de su primera </a:t>
            </a:r>
            <a:r>
              <a:rPr lang="es-ES" dirty="0" smtClean="0"/>
              <a:t>componente.</a:t>
            </a:r>
            <a:endParaRPr lang="es-ES" dirty="0"/>
          </a:p>
          <a:p>
            <a:pPr lvl="1"/>
            <a:r>
              <a:rPr lang="es-ES" dirty="0" smtClean="0"/>
              <a:t>Añadir </a:t>
            </a:r>
            <a:r>
              <a:rPr lang="es-ES" dirty="0"/>
              <a:t>a su segundo elemento el valor hasta </a:t>
            </a:r>
            <a:r>
              <a:rPr lang="es-ES" dirty="0" smtClean="0"/>
              <a:t>luego.</a:t>
            </a:r>
            <a:endParaRPr lang="es-ES" dirty="0"/>
          </a:p>
          <a:p>
            <a:pPr lvl="1"/>
            <a:r>
              <a:rPr lang="es-ES" dirty="0" smtClean="0"/>
              <a:t>Usar </a:t>
            </a:r>
            <a:r>
              <a:rPr lang="es-ES" dirty="0" err="1"/>
              <a:t>lapply</a:t>
            </a:r>
            <a:r>
              <a:rPr lang="es-ES" dirty="0"/>
              <a:t> o </a:t>
            </a:r>
            <a:r>
              <a:rPr lang="es-ES" dirty="0" err="1"/>
              <a:t>sapply</a:t>
            </a:r>
            <a:r>
              <a:rPr lang="es-ES" dirty="0"/>
              <a:t> para calcular la longitud de cada elemento de la </a:t>
            </a:r>
            <a:r>
              <a:rPr lang="es-ES" dirty="0" smtClean="0"/>
              <a:t>lista.</a:t>
            </a:r>
            <a:endParaRPr lang="es-ES" dirty="0"/>
          </a:p>
          <a:p>
            <a:pPr lvl="1"/>
            <a:r>
              <a:rPr lang="es-ES" dirty="0" smtClean="0"/>
              <a:t>Añadir </a:t>
            </a:r>
            <a:r>
              <a:rPr lang="es-ES" dirty="0"/>
              <a:t>a la lista un tercer elemento (llamado iris) que contenga la tabla iris</a:t>
            </a:r>
          </a:p>
          <a:p>
            <a:pPr lvl="1"/>
            <a:r>
              <a:rPr lang="es-ES" dirty="0" smtClean="0"/>
              <a:t>Borrar </a:t>
            </a:r>
            <a:r>
              <a:rPr lang="es-ES" dirty="0"/>
              <a:t>el elemento </a:t>
            </a:r>
            <a:r>
              <a:rPr lang="es-ES" dirty="0" smtClean="0"/>
              <a:t>a.</a:t>
            </a:r>
          </a:p>
          <a:p>
            <a:r>
              <a:rPr lang="es-CL" dirty="0" smtClean="0"/>
              <a:t>Todas las </a:t>
            </a:r>
            <a:r>
              <a:rPr lang="es-CL" dirty="0"/>
              <a:t>funciones utilizadas: https://pastebin.com/zyGEYB1w</a:t>
            </a:r>
          </a:p>
        </p:txBody>
      </p:sp>
    </p:spTree>
    <p:extLst>
      <p:ext uri="{BB962C8B-B14F-4D97-AF65-F5344CB8AC3E}">
        <p14:creationId xmlns:p14="http://schemas.microsoft.com/office/powerpoint/2010/main" val="227654523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Web </a:t>
            </a:r>
            <a:r>
              <a:rPr lang="es-ES" dirty="0" err="1" smtClean="0"/>
              <a:t>scraping</a:t>
            </a:r>
            <a:endParaRPr lang="es-CL" dirty="0"/>
          </a:p>
        </p:txBody>
      </p:sp>
      <p:sp>
        <p:nvSpPr>
          <p:cNvPr id="3" name="Marcador de contenido 2"/>
          <p:cNvSpPr>
            <a:spLocks noGrp="1"/>
          </p:cNvSpPr>
          <p:nvPr>
            <p:ph idx="1"/>
          </p:nvPr>
        </p:nvSpPr>
        <p:spPr/>
        <p:txBody>
          <a:bodyPr/>
          <a:lstStyle/>
          <a:p>
            <a:r>
              <a:rPr lang="es-ES" dirty="0"/>
              <a:t>En ocasiones interesa descargar datos directamente de páginas de internet recorriendo una, varias o, incluso, muchas de ellas</a:t>
            </a:r>
            <a:r>
              <a:rPr lang="es-ES" dirty="0" smtClean="0"/>
              <a:t>.</a:t>
            </a:r>
          </a:p>
          <a:p>
            <a:r>
              <a:rPr lang="es-ES" dirty="0" smtClean="0"/>
              <a:t>Se requiere la librería </a:t>
            </a:r>
            <a:r>
              <a:rPr lang="es-ES" dirty="0" err="1" smtClean="0"/>
              <a:t>rvest</a:t>
            </a:r>
            <a:r>
              <a:rPr lang="es-ES" dirty="0" smtClean="0"/>
              <a:t>.</a:t>
            </a:r>
          </a:p>
          <a:p>
            <a:r>
              <a:rPr lang="es-ES" dirty="0" err="1" smtClean="0"/>
              <a:t>Install.packages</a:t>
            </a:r>
            <a:r>
              <a:rPr lang="es-ES" dirty="0" smtClean="0"/>
              <a:t>(“</a:t>
            </a:r>
            <a:r>
              <a:rPr lang="es-ES" dirty="0" err="1" smtClean="0"/>
              <a:t>rvest</a:t>
            </a:r>
            <a:r>
              <a:rPr lang="es-ES" dirty="0" smtClean="0"/>
              <a:t>”)</a:t>
            </a:r>
          </a:p>
          <a:p>
            <a:r>
              <a:rPr lang="es-ES" dirty="0" err="1" smtClean="0"/>
              <a:t>Install.packages</a:t>
            </a:r>
            <a:r>
              <a:rPr lang="es-ES" dirty="0" smtClean="0"/>
              <a:t>(“xml2”)</a:t>
            </a:r>
            <a:endParaRPr lang="es-CL" dirty="0"/>
          </a:p>
        </p:txBody>
      </p:sp>
    </p:spTree>
    <p:extLst>
      <p:ext uri="{BB962C8B-B14F-4D97-AF65-F5344CB8AC3E}">
        <p14:creationId xmlns:p14="http://schemas.microsoft.com/office/powerpoint/2010/main" val="258677309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Web </a:t>
            </a:r>
            <a:r>
              <a:rPr lang="es-ES" dirty="0" err="1" smtClean="0"/>
              <a:t>scraping</a:t>
            </a:r>
            <a:endParaRPr lang="es-CL" dirty="0"/>
          </a:p>
        </p:txBody>
      </p:sp>
      <p:sp>
        <p:nvSpPr>
          <p:cNvPr id="3" name="Marcador de contenido 2"/>
          <p:cNvSpPr>
            <a:spLocks noGrp="1"/>
          </p:cNvSpPr>
          <p:nvPr>
            <p:ph idx="1"/>
          </p:nvPr>
        </p:nvSpPr>
        <p:spPr/>
        <p:txBody>
          <a:bodyPr/>
          <a:lstStyle/>
          <a:p>
            <a:r>
              <a:rPr lang="es-CL" dirty="0" err="1"/>
              <a:t>library</a:t>
            </a:r>
            <a:r>
              <a:rPr lang="es-CL" dirty="0"/>
              <a:t>(</a:t>
            </a:r>
            <a:r>
              <a:rPr lang="es-CL" dirty="0" err="1"/>
              <a:t>rvest</a:t>
            </a:r>
            <a:r>
              <a:rPr lang="es-CL" dirty="0"/>
              <a:t>)</a:t>
            </a:r>
          </a:p>
          <a:p>
            <a:r>
              <a:rPr lang="es-CL" dirty="0" err="1"/>
              <a:t>library</a:t>
            </a:r>
            <a:r>
              <a:rPr lang="es-CL" dirty="0"/>
              <a:t>(xml2)</a:t>
            </a:r>
          </a:p>
          <a:p>
            <a:r>
              <a:rPr lang="es-CL" dirty="0" err="1"/>
              <a:t>url.curacao</a:t>
            </a:r>
            <a:r>
              <a:rPr lang="es-CL" dirty="0"/>
              <a:t> &lt;- "https://www.lacuracaonline.com/elsalvador/productos/electronica/celulares.html"</a:t>
            </a:r>
          </a:p>
          <a:p>
            <a:r>
              <a:rPr lang="es-CL" dirty="0" err="1"/>
              <a:t>tmp</a:t>
            </a:r>
            <a:r>
              <a:rPr lang="es-CL" dirty="0"/>
              <a:t> &lt;- </a:t>
            </a:r>
            <a:r>
              <a:rPr lang="es-CL" dirty="0" err="1"/>
              <a:t>read_html</a:t>
            </a:r>
            <a:r>
              <a:rPr lang="es-CL" dirty="0"/>
              <a:t>(</a:t>
            </a:r>
            <a:r>
              <a:rPr lang="es-CL" dirty="0" err="1"/>
              <a:t>url.curacao</a:t>
            </a:r>
            <a:r>
              <a:rPr lang="es-CL" dirty="0"/>
              <a:t>)</a:t>
            </a:r>
          </a:p>
          <a:p>
            <a:r>
              <a:rPr lang="es-CL" dirty="0" err="1"/>
              <a:t>tmp</a:t>
            </a:r>
            <a:r>
              <a:rPr lang="es-CL" dirty="0"/>
              <a:t> &lt;- </a:t>
            </a:r>
            <a:r>
              <a:rPr lang="es-CL" dirty="0" err="1"/>
              <a:t>html_nodes</a:t>
            </a:r>
            <a:r>
              <a:rPr lang="es-CL" dirty="0"/>
              <a:t>(</a:t>
            </a:r>
            <a:r>
              <a:rPr lang="es-CL" dirty="0" err="1"/>
              <a:t>tmp</a:t>
            </a:r>
            <a:r>
              <a:rPr lang="es-CL" dirty="0"/>
              <a:t>, "li")</a:t>
            </a:r>
          </a:p>
        </p:txBody>
      </p:sp>
    </p:spTree>
    <p:extLst>
      <p:ext uri="{BB962C8B-B14F-4D97-AF65-F5344CB8AC3E}">
        <p14:creationId xmlns:p14="http://schemas.microsoft.com/office/powerpoint/2010/main" val="178096311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Web </a:t>
            </a:r>
            <a:r>
              <a:rPr lang="es-ES" dirty="0" err="1" smtClean="0"/>
              <a:t>scraping</a:t>
            </a:r>
            <a:endParaRPr lang="es-CL" dirty="0"/>
          </a:p>
        </p:txBody>
      </p:sp>
      <p:sp>
        <p:nvSpPr>
          <p:cNvPr id="3" name="Marcador de contenido 2"/>
          <p:cNvSpPr>
            <a:spLocks noGrp="1"/>
          </p:cNvSpPr>
          <p:nvPr>
            <p:ph idx="1"/>
          </p:nvPr>
        </p:nvSpPr>
        <p:spPr/>
        <p:txBody>
          <a:bodyPr>
            <a:normAutofit/>
          </a:bodyPr>
          <a:lstStyle/>
          <a:p>
            <a:r>
              <a:rPr lang="es-ES" dirty="0"/>
              <a:t>La segunda línea descarga y </a:t>
            </a:r>
            <a:r>
              <a:rPr lang="es-ES" dirty="0" err="1"/>
              <a:t>preprocesa</a:t>
            </a:r>
            <a:r>
              <a:rPr lang="es-ES" dirty="0"/>
              <a:t> una página descargada de </a:t>
            </a:r>
            <a:r>
              <a:rPr lang="es-ES" dirty="0" smtClean="0"/>
              <a:t>internet.</a:t>
            </a:r>
          </a:p>
          <a:p>
            <a:r>
              <a:rPr lang="es-ES" dirty="0" smtClean="0"/>
              <a:t>El </a:t>
            </a:r>
            <a:r>
              <a:rPr lang="es-ES" dirty="0"/>
              <a:t>objeto </a:t>
            </a:r>
            <a:r>
              <a:rPr lang="es-ES" dirty="0" err="1"/>
              <a:t>tmp</a:t>
            </a:r>
            <a:r>
              <a:rPr lang="es-ES" dirty="0"/>
              <a:t> contiene una representación interna de la página. Una página web, en el fondo, no es otra cosa que un árbol del que penden nodos que son párrafos, imágenes, enlaces, tablas, etc. Sobre este árbol se pueden realizar distintos tipos de consultas, i.e., extraer distintos tipos de nodos</a:t>
            </a:r>
            <a:r>
              <a:rPr lang="es-ES" dirty="0" smtClean="0"/>
              <a:t>.</a:t>
            </a:r>
            <a:endParaRPr lang="es-ES" dirty="0"/>
          </a:p>
          <a:p>
            <a:r>
              <a:rPr lang="es-ES" dirty="0"/>
              <a:t>La función </a:t>
            </a:r>
            <a:r>
              <a:rPr lang="es-ES" dirty="0" err="1"/>
              <a:t>html_nodes</a:t>
            </a:r>
            <a:r>
              <a:rPr lang="es-ES" dirty="0"/>
              <a:t> captura los nodos que tienen determinadas </a:t>
            </a:r>
            <a:r>
              <a:rPr lang="es-ES" dirty="0" smtClean="0"/>
              <a:t>características (h1,h2,table,div,li,ol,etc.).</a:t>
            </a:r>
          </a:p>
          <a:p>
            <a:endParaRPr lang="es-CL" dirty="0"/>
          </a:p>
        </p:txBody>
      </p:sp>
    </p:spTree>
    <p:extLst>
      <p:ext uri="{BB962C8B-B14F-4D97-AF65-F5344CB8AC3E}">
        <p14:creationId xmlns:p14="http://schemas.microsoft.com/office/powerpoint/2010/main" val="31135797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Manipulación básica de texto</a:t>
            </a:r>
          </a:p>
        </p:txBody>
      </p:sp>
      <p:sp>
        <p:nvSpPr>
          <p:cNvPr id="3" name="Marcador de contenido 2"/>
          <p:cNvSpPr>
            <a:spLocks noGrp="1"/>
          </p:cNvSpPr>
          <p:nvPr>
            <p:ph idx="1"/>
          </p:nvPr>
        </p:nvSpPr>
        <p:spPr/>
        <p:txBody>
          <a:bodyPr>
            <a:normAutofit/>
          </a:bodyPr>
          <a:lstStyle/>
          <a:p>
            <a:r>
              <a:rPr lang="es-ES" dirty="0"/>
              <a:t>La función </a:t>
            </a:r>
            <a:r>
              <a:rPr lang="es-ES" dirty="0" err="1"/>
              <a:t>gsub</a:t>
            </a:r>
            <a:r>
              <a:rPr lang="es-ES" dirty="0"/>
              <a:t> se usa muy a menudo para dicha limpieza de datos</a:t>
            </a:r>
            <a:r>
              <a:rPr lang="es-ES" dirty="0" smtClean="0"/>
              <a:t>.</a:t>
            </a:r>
          </a:p>
          <a:p>
            <a:r>
              <a:rPr lang="pt-BR" dirty="0" err="1"/>
              <a:t>gsub</a:t>
            </a:r>
            <a:r>
              <a:rPr lang="pt-BR" dirty="0"/>
              <a:t>("h", "H", c("</a:t>
            </a:r>
            <a:r>
              <a:rPr lang="pt-BR" dirty="0" err="1"/>
              <a:t>hola</a:t>
            </a:r>
            <a:r>
              <a:rPr lang="pt-BR" dirty="0"/>
              <a:t>", "</a:t>
            </a:r>
            <a:r>
              <a:rPr lang="pt-BR" dirty="0" err="1"/>
              <a:t>búho</a:t>
            </a:r>
            <a:r>
              <a:rPr lang="pt-BR" dirty="0" smtClean="0"/>
              <a:t>"))</a:t>
            </a:r>
          </a:p>
          <a:p>
            <a:r>
              <a:rPr lang="es-ES" dirty="0"/>
              <a:t>Las expresiones regulares son muy útiles para manipular texto. Conviene aprender algunas de las más frecuentes, como por ejemplo, las que identifican caracteres que aparecen al principio de un </a:t>
            </a:r>
            <a:r>
              <a:rPr lang="es-ES" dirty="0" smtClean="0"/>
              <a:t>texto.</a:t>
            </a:r>
          </a:p>
          <a:p>
            <a:r>
              <a:rPr lang="pt-BR" dirty="0" err="1"/>
              <a:t>gsub</a:t>
            </a:r>
            <a:r>
              <a:rPr lang="pt-BR" dirty="0"/>
              <a:t>("^h", "H", c("</a:t>
            </a:r>
            <a:r>
              <a:rPr lang="pt-BR" dirty="0" err="1"/>
              <a:t>hola</a:t>
            </a:r>
            <a:r>
              <a:rPr lang="pt-BR" dirty="0"/>
              <a:t>", "</a:t>
            </a:r>
            <a:r>
              <a:rPr lang="pt-BR" dirty="0" err="1"/>
              <a:t>búho</a:t>
            </a:r>
            <a:r>
              <a:rPr lang="pt-BR" dirty="0"/>
              <a:t>"))</a:t>
            </a:r>
            <a:endParaRPr lang="es-CL" dirty="0"/>
          </a:p>
        </p:txBody>
      </p:sp>
    </p:spTree>
    <p:extLst>
      <p:ext uri="{BB962C8B-B14F-4D97-AF65-F5344CB8AC3E}">
        <p14:creationId xmlns:p14="http://schemas.microsoft.com/office/powerpoint/2010/main" val="144629103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JSON y XML</a:t>
            </a:r>
            <a:endParaRPr lang="es-CL" dirty="0"/>
          </a:p>
        </p:txBody>
      </p:sp>
      <p:sp>
        <p:nvSpPr>
          <p:cNvPr id="3" name="Marcador de contenido 2"/>
          <p:cNvSpPr>
            <a:spLocks noGrp="1"/>
          </p:cNvSpPr>
          <p:nvPr>
            <p:ph idx="1"/>
          </p:nvPr>
        </p:nvSpPr>
        <p:spPr/>
        <p:txBody>
          <a:bodyPr>
            <a:normAutofit/>
          </a:bodyPr>
          <a:lstStyle/>
          <a:p>
            <a:r>
              <a:rPr lang="es-ES" dirty="0"/>
              <a:t>En la primera línea cargamos el paquete necesario, </a:t>
            </a:r>
            <a:r>
              <a:rPr lang="es-ES" dirty="0" err="1"/>
              <a:t>rjson</a:t>
            </a:r>
            <a:r>
              <a:rPr lang="es-ES" dirty="0"/>
              <a:t>. En las dos siguientes leemos la URL y colapsamos todas las líneas en una única cadena de texto, una exigencia de </a:t>
            </a:r>
            <a:r>
              <a:rPr lang="es-ES" dirty="0" err="1" smtClean="0"/>
              <a:t>fromJSON</a:t>
            </a:r>
            <a:r>
              <a:rPr lang="es-ES" dirty="0" smtClean="0"/>
              <a:t>.</a:t>
            </a:r>
          </a:p>
          <a:p>
            <a:r>
              <a:rPr lang="es-ES" dirty="0" smtClean="0"/>
              <a:t>Esta </a:t>
            </a:r>
            <a:r>
              <a:rPr lang="es-ES" dirty="0"/>
              <a:t>es la función que llamamos en última instancia para convertir el fichero JSON en una estructura arborescente en R</a:t>
            </a:r>
            <a:endParaRPr lang="es-CL" dirty="0"/>
          </a:p>
        </p:txBody>
      </p:sp>
    </p:spTree>
    <p:extLst>
      <p:ext uri="{BB962C8B-B14F-4D97-AF65-F5344CB8AC3E}">
        <p14:creationId xmlns:p14="http://schemas.microsoft.com/office/powerpoint/2010/main" val="166100692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JSON y XML</a:t>
            </a:r>
            <a:endParaRPr lang="es-CL" dirty="0"/>
          </a:p>
        </p:txBody>
      </p:sp>
      <p:sp>
        <p:nvSpPr>
          <p:cNvPr id="3" name="Marcador de contenido 2"/>
          <p:cNvSpPr>
            <a:spLocks noGrp="1"/>
          </p:cNvSpPr>
          <p:nvPr>
            <p:ph idx="1"/>
          </p:nvPr>
        </p:nvSpPr>
        <p:spPr/>
        <p:txBody>
          <a:bodyPr>
            <a:normAutofit/>
          </a:bodyPr>
          <a:lstStyle/>
          <a:p>
            <a:r>
              <a:rPr lang="es-CL" dirty="0" err="1"/>
              <a:t>install.packages</a:t>
            </a:r>
            <a:r>
              <a:rPr lang="es-CL" dirty="0"/>
              <a:t>("</a:t>
            </a:r>
            <a:r>
              <a:rPr lang="es-CL" dirty="0" err="1"/>
              <a:t>rjson</a:t>
            </a:r>
            <a:r>
              <a:rPr lang="es-CL" dirty="0"/>
              <a:t>")</a:t>
            </a:r>
          </a:p>
          <a:p>
            <a:r>
              <a:rPr lang="es-CL" dirty="0" err="1"/>
              <a:t>library</a:t>
            </a:r>
            <a:r>
              <a:rPr lang="es-CL" dirty="0"/>
              <a:t>(</a:t>
            </a:r>
            <a:r>
              <a:rPr lang="es-CL" dirty="0" err="1"/>
              <a:t>rjson</a:t>
            </a:r>
            <a:r>
              <a:rPr lang="es-CL" dirty="0"/>
              <a:t>)</a:t>
            </a:r>
          </a:p>
          <a:p>
            <a:r>
              <a:rPr lang="es-CL" dirty="0" err="1"/>
              <a:t>pob</a:t>
            </a:r>
            <a:r>
              <a:rPr lang="es-CL" dirty="0"/>
              <a:t> &lt;- </a:t>
            </a:r>
            <a:r>
              <a:rPr lang="es-CL" dirty="0" err="1"/>
              <a:t>readLines</a:t>
            </a:r>
            <a:r>
              <a:rPr lang="es-CL" dirty="0"/>
              <a:t>("https://jsonplaceholder.typicode.com/todos/1")</a:t>
            </a:r>
          </a:p>
          <a:p>
            <a:r>
              <a:rPr lang="es-CL" dirty="0" err="1"/>
              <a:t>pob</a:t>
            </a:r>
            <a:r>
              <a:rPr lang="es-CL" dirty="0"/>
              <a:t> &lt;- paste(</a:t>
            </a:r>
            <a:r>
              <a:rPr lang="es-CL" dirty="0" err="1"/>
              <a:t>pob</a:t>
            </a:r>
            <a:r>
              <a:rPr lang="es-CL" dirty="0"/>
              <a:t>, </a:t>
            </a:r>
            <a:r>
              <a:rPr lang="es-CL" dirty="0" err="1"/>
              <a:t>collapse</a:t>
            </a:r>
            <a:r>
              <a:rPr lang="es-CL" dirty="0"/>
              <a:t> = " ")</a:t>
            </a:r>
          </a:p>
          <a:p>
            <a:r>
              <a:rPr lang="es-CL" dirty="0" err="1"/>
              <a:t>pob</a:t>
            </a:r>
            <a:r>
              <a:rPr lang="es-CL" dirty="0"/>
              <a:t> &lt;- </a:t>
            </a:r>
            <a:r>
              <a:rPr lang="es-CL" dirty="0" err="1"/>
              <a:t>fromJSON</a:t>
            </a:r>
            <a:r>
              <a:rPr lang="es-CL" dirty="0"/>
              <a:t>(</a:t>
            </a:r>
            <a:r>
              <a:rPr lang="es-CL" dirty="0" err="1"/>
              <a:t>pob</a:t>
            </a:r>
            <a:r>
              <a:rPr lang="es-CL" dirty="0"/>
              <a:t>)</a:t>
            </a:r>
          </a:p>
        </p:txBody>
      </p:sp>
    </p:spTree>
    <p:extLst>
      <p:ext uri="{BB962C8B-B14F-4D97-AF65-F5344CB8AC3E}">
        <p14:creationId xmlns:p14="http://schemas.microsoft.com/office/powerpoint/2010/main" val="103948125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Ejercicio 06 final</a:t>
            </a:r>
            <a:endParaRPr lang="es-CL" dirty="0"/>
          </a:p>
        </p:txBody>
      </p:sp>
      <p:sp>
        <p:nvSpPr>
          <p:cNvPr id="3" name="Marcador de contenido 2"/>
          <p:cNvSpPr>
            <a:spLocks noGrp="1"/>
          </p:cNvSpPr>
          <p:nvPr>
            <p:ph idx="1"/>
          </p:nvPr>
        </p:nvSpPr>
        <p:spPr/>
        <p:txBody>
          <a:bodyPr>
            <a:normAutofit/>
          </a:bodyPr>
          <a:lstStyle/>
          <a:p>
            <a:r>
              <a:rPr lang="es-ES" dirty="0"/>
              <a:t>Desarrolle en </a:t>
            </a:r>
            <a:r>
              <a:rPr lang="es-ES" dirty="0" smtClean="0"/>
              <a:t>R una </a:t>
            </a:r>
            <a:r>
              <a:rPr lang="es-ES" dirty="0"/>
              <a:t>solución de web </a:t>
            </a:r>
            <a:r>
              <a:rPr lang="es-ES" dirty="0" err="1"/>
              <a:t>scraping</a:t>
            </a:r>
            <a:r>
              <a:rPr lang="es-ES" dirty="0"/>
              <a:t> con 3 sitios y que los datos extraídos sean almacenados en un archivo CSV.</a:t>
            </a:r>
          </a:p>
          <a:p>
            <a:r>
              <a:rPr lang="es-ES" dirty="0"/>
              <a:t>Los sitios web para extraer la información son:</a:t>
            </a:r>
          </a:p>
          <a:p>
            <a:pPr lvl="1"/>
            <a:r>
              <a:rPr lang="es-ES" dirty="0"/>
              <a:t>http://www.siman.com/elsalvador/</a:t>
            </a:r>
          </a:p>
          <a:p>
            <a:pPr lvl="1"/>
            <a:r>
              <a:rPr lang="es-ES" dirty="0"/>
              <a:t>https://www.lacuracaonline.com</a:t>
            </a:r>
          </a:p>
          <a:p>
            <a:pPr lvl="1"/>
            <a:r>
              <a:rPr lang="es-ES" dirty="0"/>
              <a:t>http://</a:t>
            </a:r>
            <a:r>
              <a:rPr lang="es-ES" dirty="0" smtClean="0"/>
              <a:t>www.lacuracaonline.com/elsalvador/productos/radioshack.html</a:t>
            </a:r>
          </a:p>
          <a:p>
            <a:r>
              <a:rPr lang="es-ES" dirty="0" smtClean="0"/>
              <a:t>Duración: 120 minutos.</a:t>
            </a:r>
          </a:p>
          <a:p>
            <a:r>
              <a:rPr lang="es-ES" dirty="0"/>
              <a:t>Ejemplos: https://pastebin.com/YEYKVNff</a:t>
            </a:r>
          </a:p>
          <a:p>
            <a:endParaRPr lang="es-CL" dirty="0"/>
          </a:p>
        </p:txBody>
      </p:sp>
    </p:spTree>
    <p:extLst>
      <p:ext uri="{BB962C8B-B14F-4D97-AF65-F5344CB8AC3E}">
        <p14:creationId xmlns:p14="http://schemas.microsoft.com/office/powerpoint/2010/main" val="58626201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Muchas gracias por su atención</a:t>
            </a:r>
            <a:endParaRPr lang="es-CL" dirty="0"/>
          </a:p>
        </p:txBody>
      </p:sp>
      <p:sp>
        <p:nvSpPr>
          <p:cNvPr id="3" name="Marcador de contenido 2"/>
          <p:cNvSpPr>
            <a:spLocks noGrp="1"/>
          </p:cNvSpPr>
          <p:nvPr>
            <p:ph idx="1"/>
          </p:nvPr>
        </p:nvSpPr>
        <p:spPr/>
        <p:txBody>
          <a:bodyPr>
            <a:normAutofit/>
          </a:bodyPr>
          <a:lstStyle/>
          <a:p>
            <a:pPr marL="0" indent="0" algn="ctr">
              <a:buNone/>
            </a:pPr>
            <a:r>
              <a:rPr lang="es-CL" sz="4400" dirty="0"/>
              <a:t>Rodrigo Alfaro Pinto</a:t>
            </a:r>
          </a:p>
          <a:p>
            <a:pPr marL="0" indent="0" algn="ctr">
              <a:buNone/>
            </a:pPr>
            <a:r>
              <a:rPr lang="es-CL" sz="4400" dirty="0"/>
              <a:t>www.linkedin.com/in/ralfcl</a:t>
            </a:r>
          </a:p>
        </p:txBody>
      </p:sp>
    </p:spTree>
    <p:extLst>
      <p:ext uri="{BB962C8B-B14F-4D97-AF65-F5344CB8AC3E}">
        <p14:creationId xmlns:p14="http://schemas.microsoft.com/office/powerpoint/2010/main" val="303243741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Bibliografía</a:t>
            </a:r>
            <a:endParaRPr lang="es-CL" dirty="0"/>
          </a:p>
        </p:txBody>
      </p:sp>
      <p:sp>
        <p:nvSpPr>
          <p:cNvPr id="3" name="Marcador de contenido 2"/>
          <p:cNvSpPr>
            <a:spLocks noGrp="1"/>
          </p:cNvSpPr>
          <p:nvPr>
            <p:ph idx="1"/>
          </p:nvPr>
        </p:nvSpPr>
        <p:spPr/>
        <p:txBody>
          <a:bodyPr>
            <a:normAutofit/>
          </a:bodyPr>
          <a:lstStyle/>
          <a:p>
            <a:r>
              <a:rPr lang="en-US" dirty="0"/>
              <a:t>Data Science </a:t>
            </a:r>
            <a:r>
              <a:rPr lang="en-US" dirty="0" smtClean="0"/>
              <a:t>&amp; Big </a:t>
            </a:r>
            <a:r>
              <a:rPr lang="en-US" dirty="0"/>
              <a:t>Data Analytics, Discovering, Analyzing, </a:t>
            </a:r>
            <a:r>
              <a:rPr lang="en-US" dirty="0" smtClean="0"/>
              <a:t>Visualizing and </a:t>
            </a:r>
            <a:r>
              <a:rPr lang="en-US" dirty="0"/>
              <a:t>Presenting Data, EMC Education Services, 2015 by John Wiley &amp; </a:t>
            </a:r>
            <a:r>
              <a:rPr lang="en-US" dirty="0" smtClean="0"/>
              <a:t>Sons, </a:t>
            </a:r>
            <a:r>
              <a:rPr lang="en-US" dirty="0" err="1" smtClean="0"/>
              <a:t>páginas</a:t>
            </a:r>
            <a:r>
              <a:rPr lang="en-US" dirty="0" smtClean="0"/>
              <a:t> 270-290.</a:t>
            </a:r>
          </a:p>
          <a:p>
            <a:r>
              <a:rPr lang="en-US" dirty="0" smtClean="0"/>
              <a:t>Big Data </a:t>
            </a:r>
            <a:r>
              <a:rPr lang="en-US" dirty="0"/>
              <a:t>for dummies, </a:t>
            </a:r>
            <a:r>
              <a:rPr lang="en-US" dirty="0" smtClean="0"/>
              <a:t>2013, Judith </a:t>
            </a:r>
            <a:r>
              <a:rPr lang="en-US" dirty="0"/>
              <a:t>S. Hurwitz, Alan F. </a:t>
            </a:r>
            <a:r>
              <a:rPr lang="en-US" dirty="0" smtClean="0"/>
              <a:t>Nugent, </a:t>
            </a:r>
            <a:r>
              <a:rPr lang="en-US" dirty="0" err="1" smtClean="0"/>
              <a:t>páginas</a:t>
            </a:r>
            <a:r>
              <a:rPr lang="en-US" dirty="0" smtClean="0"/>
              <a:t> 203-227.</a:t>
            </a:r>
          </a:p>
          <a:p>
            <a:r>
              <a:rPr lang="en-US" dirty="0" smtClean="0"/>
              <a:t>An introduction to </a:t>
            </a:r>
            <a:r>
              <a:rPr lang="en-US" dirty="0"/>
              <a:t>Data Science, 2013, Jeffrey Stanton, Syracuse </a:t>
            </a:r>
            <a:r>
              <a:rPr lang="en-US" dirty="0" smtClean="0"/>
              <a:t>University, </a:t>
            </a:r>
            <a:r>
              <a:rPr lang="en-US" dirty="0" err="1" smtClean="0"/>
              <a:t>páginas</a:t>
            </a:r>
            <a:r>
              <a:rPr lang="en-US" dirty="0" smtClean="0"/>
              <a:t>  75-95</a:t>
            </a:r>
            <a:r>
              <a:rPr lang="en-US" dirty="0" smtClean="0"/>
              <a:t>.</a:t>
            </a:r>
          </a:p>
          <a:p>
            <a:r>
              <a:rPr lang="pt-BR" dirty="0" smtClean="0"/>
              <a:t>R </a:t>
            </a:r>
            <a:r>
              <a:rPr lang="pt-BR" dirty="0" err="1" smtClean="0"/>
              <a:t>Documentación</a:t>
            </a:r>
            <a:r>
              <a:rPr lang="pt-BR" dirty="0" smtClean="0"/>
              <a:t> oficial, https</a:t>
            </a:r>
            <a:r>
              <a:rPr lang="pt-BR" dirty="0"/>
              <a:t>://www.rdocumentation.org</a:t>
            </a:r>
            <a:r>
              <a:rPr lang="pt-BR" dirty="0" smtClean="0"/>
              <a:t>/</a:t>
            </a:r>
          </a:p>
          <a:p>
            <a:r>
              <a:rPr lang="pt-BR" dirty="0" smtClean="0"/>
              <a:t>Una </a:t>
            </a:r>
            <a:r>
              <a:rPr lang="pt-BR" dirty="0" err="1" smtClean="0"/>
              <a:t>introducción</a:t>
            </a:r>
            <a:r>
              <a:rPr lang="pt-BR" dirty="0" smtClean="0"/>
              <a:t> a R, 2014, Luís </a:t>
            </a:r>
            <a:r>
              <a:rPr lang="pt-BR" dirty="0" err="1" smtClean="0"/>
              <a:t>Cayuela</a:t>
            </a:r>
            <a:r>
              <a:rPr lang="pt-BR" dirty="0" smtClean="0"/>
              <a:t>, páginas 1-39.</a:t>
            </a:r>
            <a:endParaRPr lang="pt-BR" dirty="0"/>
          </a:p>
        </p:txBody>
      </p:sp>
    </p:spTree>
    <p:extLst>
      <p:ext uri="{BB962C8B-B14F-4D97-AF65-F5344CB8AC3E}">
        <p14:creationId xmlns:p14="http://schemas.microsoft.com/office/powerpoint/2010/main" val="352493256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1421</TotalTime>
  <Words>3909</Words>
  <Application>Microsoft Office PowerPoint</Application>
  <PresentationFormat>Panorámica</PresentationFormat>
  <Paragraphs>394</Paragraphs>
  <Slides>94</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94</vt:i4>
      </vt:variant>
    </vt:vector>
  </HeadingPairs>
  <TitlesOfParts>
    <vt:vector size="99" baseType="lpstr">
      <vt:lpstr>Arial</vt:lpstr>
      <vt:lpstr>Calibri</vt:lpstr>
      <vt:lpstr>Century Gothic</vt:lpstr>
      <vt:lpstr>Wingdings 3</vt:lpstr>
      <vt:lpstr>Ion</vt:lpstr>
      <vt:lpstr>Introducción a Data Science</vt:lpstr>
      <vt:lpstr>Agenda día 02</vt:lpstr>
      <vt:lpstr>Repositorio del curso</vt:lpstr>
      <vt:lpstr>Software a utilizar</vt:lpstr>
      <vt:lpstr>Instalar R, integrar con Jupyter</vt:lpstr>
      <vt:lpstr>Como instalar R y ejecutar en Jupyter</vt:lpstr>
      <vt:lpstr>Ahora podemos usar Jupyter y R</vt:lpstr>
      <vt:lpstr>Introducción al lenguaje R</vt:lpstr>
      <vt:lpstr>Introducción al lenguaje R</vt:lpstr>
      <vt:lpstr>Introducción al lenguaje R</vt:lpstr>
      <vt:lpstr>Introducción al lenguaje R</vt:lpstr>
      <vt:lpstr>Introducción al lenguaje R</vt:lpstr>
      <vt:lpstr>Introducción al lenguaje R</vt:lpstr>
      <vt:lpstr>Introducción a R</vt:lpstr>
      <vt:lpstr>Conocer el conjunto de datos</vt:lpstr>
      <vt:lpstr>Ejercicio 01</vt:lpstr>
      <vt:lpstr>Selección de filas y columnas</vt:lpstr>
      <vt:lpstr>Selección de filas y columnas</vt:lpstr>
      <vt:lpstr>Selección de filas y columnas</vt:lpstr>
      <vt:lpstr>Selección de filas y columnas</vt:lpstr>
      <vt:lpstr>Selección de filas y columnas</vt:lpstr>
      <vt:lpstr>Creación, eliminación de tablas y columnas</vt:lpstr>
      <vt:lpstr>Creación, eliminación de tablas y columnas</vt:lpstr>
      <vt:lpstr>Ejercicio 02</vt:lpstr>
      <vt:lpstr>Solución ejercicio 02</vt:lpstr>
      <vt:lpstr>Ordenación</vt:lpstr>
      <vt:lpstr>Ordenación</vt:lpstr>
      <vt:lpstr>Ordenación</vt:lpstr>
      <vt:lpstr>Trabajo con archivos</vt:lpstr>
      <vt:lpstr>Trabajo con archivos</vt:lpstr>
      <vt:lpstr>Trabajo con archivos</vt:lpstr>
      <vt:lpstr>Trabajo con archivos</vt:lpstr>
      <vt:lpstr>Gráficos</vt:lpstr>
      <vt:lpstr>Representación gráfica de variables continuas: histogramas</vt:lpstr>
      <vt:lpstr>Representación gráfica de variables continuas: histogramas</vt:lpstr>
      <vt:lpstr>Representación gráfica de variables categóricas: barras</vt:lpstr>
      <vt:lpstr>Representación gráfica de variables categóricas: barras</vt:lpstr>
      <vt:lpstr>Representación de la relación entre dos variables continuas: gráficos de dispersión</vt:lpstr>
      <vt:lpstr>Representación de la relación entre una variable continua y otra categórica: diagramas de caja (boxplots)</vt:lpstr>
      <vt:lpstr>Ejercicio 03</vt:lpstr>
      <vt:lpstr>Vectores</vt:lpstr>
      <vt:lpstr>Vectores</vt:lpstr>
      <vt:lpstr>Vectores</vt:lpstr>
      <vt:lpstr>Vectores</vt:lpstr>
      <vt:lpstr>Inspección de vectores</vt:lpstr>
      <vt:lpstr>Inspección de vectores</vt:lpstr>
      <vt:lpstr>Selección de vectores</vt:lpstr>
      <vt:lpstr>Selección de vectores</vt:lpstr>
      <vt:lpstr>Selección de vectores</vt:lpstr>
      <vt:lpstr>Selección de vectores</vt:lpstr>
      <vt:lpstr>Selección de vectores</vt:lpstr>
      <vt:lpstr>Selección de vectores</vt:lpstr>
      <vt:lpstr>Selección de vectores</vt:lpstr>
      <vt:lpstr>Ordenación</vt:lpstr>
      <vt:lpstr>Ordenación</vt:lpstr>
      <vt:lpstr>Operaciones matemáticas y vectorización</vt:lpstr>
      <vt:lpstr>Operaciones matemáticas y vectorización</vt:lpstr>
      <vt:lpstr>Ejercicio 04</vt:lpstr>
      <vt:lpstr>Digresión: creación de funciones</vt:lpstr>
      <vt:lpstr>Digresión: creación de funciones</vt:lpstr>
      <vt:lpstr>Digresión: creación de funciones</vt:lpstr>
      <vt:lpstr>tapply</vt:lpstr>
      <vt:lpstr>tapply</vt:lpstr>
      <vt:lpstr>Test de Student</vt:lpstr>
      <vt:lpstr>Test de Student</vt:lpstr>
      <vt:lpstr>Test de Student</vt:lpstr>
      <vt:lpstr>Test de Student</vt:lpstr>
      <vt:lpstr>Test de Student</vt:lpstr>
      <vt:lpstr>Regresión lineal</vt:lpstr>
      <vt:lpstr>Regresión lineal</vt:lpstr>
      <vt:lpstr>Regresión lineal</vt:lpstr>
      <vt:lpstr>Regresión lineal</vt:lpstr>
      <vt:lpstr>Regresión lineal</vt:lpstr>
      <vt:lpstr>Regresión lineal</vt:lpstr>
      <vt:lpstr>Regresión lineal</vt:lpstr>
      <vt:lpstr>Regresión logística</vt:lpstr>
      <vt:lpstr>Regresión logística</vt:lpstr>
      <vt:lpstr>Regresión logística</vt:lpstr>
      <vt:lpstr>Regresión logística</vt:lpstr>
      <vt:lpstr>Regresión logística</vt:lpstr>
      <vt:lpstr>Regresión logística</vt:lpstr>
      <vt:lpstr>Regresión logística</vt:lpstr>
      <vt:lpstr>Regresión logística</vt:lpstr>
      <vt:lpstr>Regresión logística</vt:lpstr>
      <vt:lpstr>Ejercicio 05</vt:lpstr>
      <vt:lpstr>Web scraping</vt:lpstr>
      <vt:lpstr>Web scraping</vt:lpstr>
      <vt:lpstr>Web scraping</vt:lpstr>
      <vt:lpstr>Manipulación básica de texto</vt:lpstr>
      <vt:lpstr>JSON y XML</vt:lpstr>
      <vt:lpstr>JSON y XML</vt:lpstr>
      <vt:lpstr>Ejercicio 06 final</vt:lpstr>
      <vt:lpstr>Muchas gracias por su atención</vt:lpstr>
      <vt:lpstr>Bibliografía</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ralf</dc:creator>
  <cp:lastModifiedBy>ralf</cp:lastModifiedBy>
  <cp:revision>143</cp:revision>
  <dcterms:created xsi:type="dcterms:W3CDTF">2019-02-10T02:58:06Z</dcterms:created>
  <dcterms:modified xsi:type="dcterms:W3CDTF">2019-02-12T03:25:09Z</dcterms:modified>
</cp:coreProperties>
</file>